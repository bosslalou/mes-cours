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147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tableStyles" Target="tableStyle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C49D9A-578C-42B3-B9D2-C2CF663AEDB8}" type="datetimeFigureOut">
              <a:rPr lang="fr-FR" smtClean="0"/>
              <a:t>23/10/2025</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0F99D4-B928-4B4A-89CF-A5E39CB3AC90}" type="slidenum">
              <a:rPr lang="fr-FR" smtClean="0"/>
              <a:t>‹N°›</a:t>
            </a:fld>
            <a:endParaRPr lang="fr-FR"/>
          </a:p>
        </p:txBody>
      </p:sp>
    </p:spTree>
    <p:extLst>
      <p:ext uri="{BB962C8B-B14F-4D97-AF65-F5344CB8AC3E}">
        <p14:creationId xmlns:p14="http://schemas.microsoft.com/office/powerpoint/2010/main" val="2010350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a:p>
            <a:r>
              <a:rPr lang="fr-FR"/>
              <a:t>----- Notes de la réunion (19/09/2017 09:31) -----</a:t>
            </a:r>
          </a:p>
          <a:p>
            <a:endParaRPr lang="fr-FR"/>
          </a:p>
          <a:p>
            <a:endParaRPr lang="fr-FR"/>
          </a:p>
        </p:txBody>
      </p:sp>
      <p:sp>
        <p:nvSpPr>
          <p:cNvPr id="4" name="Espace réservé du numéro de diapositive 3"/>
          <p:cNvSpPr>
            <a:spLocks noGrp="1"/>
          </p:cNvSpPr>
          <p:nvPr>
            <p:ph type="sldNum" sz="quarter" idx="10"/>
          </p:nvPr>
        </p:nvSpPr>
        <p:spPr/>
        <p:txBody>
          <a:bodyPr/>
          <a:lstStyle/>
          <a:p>
            <a:fld id="{BEBAC23F-29B7-1B40-BE5A-638F1CEE16D0}" type="slidenum">
              <a:rPr lang="fr-FR" smtClean="0"/>
              <a:t>12</a:t>
            </a:fld>
            <a:endParaRPr lang="fr-FR"/>
          </a:p>
        </p:txBody>
      </p:sp>
    </p:spTree>
    <p:extLst>
      <p:ext uri="{BB962C8B-B14F-4D97-AF65-F5344CB8AC3E}">
        <p14:creationId xmlns:p14="http://schemas.microsoft.com/office/powerpoint/2010/main" val="4175140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7088CA3C-D80E-904C-99DE-2A73B42FF75C}"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2647748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088CA3C-D80E-904C-99DE-2A73B42FF75C}"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4022488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7088CA3C-D80E-904C-99DE-2A73B42FF75C}"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2805249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088CA3C-D80E-904C-99DE-2A73B42FF75C}" type="datetimeFigureOut">
              <a:rPr lang="fr-FR" smtClean="0"/>
              <a:t>23/10/2025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748714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088CA3C-D80E-904C-99DE-2A73B42FF75C}" type="datetimeFigureOut">
              <a:rPr lang="fr-FR" smtClean="0"/>
              <a:t>23/10/2025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3080488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e la date 2"/>
          <p:cNvSpPr>
            <a:spLocks noGrp="1"/>
          </p:cNvSpPr>
          <p:nvPr>
            <p:ph type="dt" sz="half" idx="10"/>
          </p:nvPr>
        </p:nvSpPr>
        <p:spPr/>
        <p:txBody>
          <a:bodyPr/>
          <a:lstStyle/>
          <a:p>
            <a:fld id="{7088CA3C-D80E-904C-99DE-2A73B42FF75C}" type="datetimeFigureOut">
              <a:rPr lang="fr-FR" smtClean="0"/>
              <a:t>23/10/2025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77818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088CA3C-D80E-904C-99DE-2A73B42FF75C}" type="datetimeFigureOut">
              <a:rPr lang="fr-FR" smtClean="0"/>
              <a:t>23/10/2025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2657980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088CA3C-D80E-904C-99DE-2A73B42FF75C}" type="datetimeFigureOut">
              <a:rPr lang="fr-FR" smtClean="0"/>
              <a:t>23/10/2025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2633619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088CA3C-D80E-904C-99DE-2A73B42FF75C}" type="datetimeFigureOut">
              <a:rPr lang="fr-FR" smtClean="0"/>
              <a:t>23/10/2025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631340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088CA3C-D80E-904C-99DE-2A73B42FF75C}"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2829073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088CA3C-D80E-904C-99DE-2A73B42FF75C}" type="datetimeFigureOut">
              <a:rPr lang="fr-FR" smtClean="0"/>
              <a:t>23/10/2025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7442575-388D-4341-9112-06E6569C57C1}" type="slidenum">
              <a:rPr lang="fr-FR" smtClean="0"/>
              <a:t>‹N°›</a:t>
            </a:fld>
            <a:endParaRPr lang="fr-FR"/>
          </a:p>
        </p:txBody>
      </p:sp>
    </p:spTree>
    <p:extLst>
      <p:ext uri="{BB962C8B-B14F-4D97-AF65-F5344CB8AC3E}">
        <p14:creationId xmlns:p14="http://schemas.microsoft.com/office/powerpoint/2010/main" val="3382032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et modifiez le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88CA3C-D80E-904C-99DE-2A73B42FF75C}" type="datetimeFigureOut">
              <a:rPr lang="fr-FR" smtClean="0"/>
              <a:t>23/10/2025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442575-388D-4341-9112-06E6569C57C1}" type="slidenum">
              <a:rPr lang="fr-FR" smtClean="0"/>
              <a:t>‹N°›</a:t>
            </a:fld>
            <a:endParaRPr lang="fr-FR"/>
          </a:p>
        </p:txBody>
      </p:sp>
    </p:spTree>
    <p:extLst>
      <p:ext uri="{BB962C8B-B14F-4D97-AF65-F5344CB8AC3E}">
        <p14:creationId xmlns:p14="http://schemas.microsoft.com/office/powerpoint/2010/main" val="1211816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image" Target="../media/image14.png"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3" Type="http://schemas.openxmlformats.org/officeDocument/2006/relationships/image" Target="../media/image17.jpeg" /><Relationship Id="rId2" Type="http://schemas.openxmlformats.org/officeDocument/2006/relationships/image" Target="../media/image16.jpeg" /><Relationship Id="rId1" Type="http://schemas.openxmlformats.org/officeDocument/2006/relationships/slideLayout" Target="../slideLayouts/slideLayout6.xml" /></Relationships>
</file>

<file path=ppt/slides/_rels/slide32.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jpeg" /><Relationship Id="rId1" Type="http://schemas.openxmlformats.org/officeDocument/2006/relationships/slideLayout" Target="../slideLayouts/slideLayout7.xml" /><Relationship Id="rId4" Type="http://schemas.openxmlformats.org/officeDocument/2006/relationships/image" Target="../media/image20.jpeg" /></Relationships>
</file>

<file path=ppt/slides/_rels/slide33.xml.rels><?xml version="1.0" encoding="UTF-8" standalone="yes"?>
<Relationships xmlns="http://schemas.openxmlformats.org/package/2006/relationships"><Relationship Id="rId3" Type="http://schemas.openxmlformats.org/officeDocument/2006/relationships/image" Target="../media/image22.jpeg" /><Relationship Id="rId2" Type="http://schemas.openxmlformats.org/officeDocument/2006/relationships/image" Target="../media/image21.jpeg"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3" Type="http://schemas.openxmlformats.org/officeDocument/2006/relationships/image" Target="../media/image24.jpeg" /><Relationship Id="rId2" Type="http://schemas.openxmlformats.org/officeDocument/2006/relationships/image" Target="../media/image23.jpeg"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3" Type="http://schemas.openxmlformats.org/officeDocument/2006/relationships/image" Target="../media/image26.jpeg" /><Relationship Id="rId2" Type="http://schemas.openxmlformats.org/officeDocument/2006/relationships/image" Target="../media/image25.jpeg" /><Relationship Id="rId1" Type="http://schemas.openxmlformats.org/officeDocument/2006/relationships/slideLayout" Target="../slideLayouts/slideLayout7.xml" /><Relationship Id="rId6" Type="http://schemas.openxmlformats.org/officeDocument/2006/relationships/image" Target="../media/image29.jpeg" /><Relationship Id="rId5" Type="http://schemas.openxmlformats.org/officeDocument/2006/relationships/image" Target="../media/image28.jpeg" /><Relationship Id="rId4" Type="http://schemas.openxmlformats.org/officeDocument/2006/relationships/image" Target="../media/image27.jpeg" /></Relationships>
</file>

<file path=ppt/slides/_rels/slide36.xml.rels><?xml version="1.0" encoding="UTF-8" standalone="yes"?>
<Relationships xmlns="http://schemas.openxmlformats.org/package/2006/relationships"><Relationship Id="rId3" Type="http://schemas.openxmlformats.org/officeDocument/2006/relationships/image" Target="../media/image31.jpeg" /><Relationship Id="rId2" Type="http://schemas.openxmlformats.org/officeDocument/2006/relationships/image" Target="../media/image30.jpeg"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3" Type="http://schemas.openxmlformats.org/officeDocument/2006/relationships/image" Target="../media/image33.jpeg" /><Relationship Id="rId2" Type="http://schemas.openxmlformats.org/officeDocument/2006/relationships/image" Target="../media/image32.jpeg"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3" Type="http://schemas.openxmlformats.org/officeDocument/2006/relationships/image" Target="../media/image35.jpeg" /><Relationship Id="rId2" Type="http://schemas.openxmlformats.org/officeDocument/2006/relationships/image" Target="../media/image34.jpeg"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3" Type="http://schemas.openxmlformats.org/officeDocument/2006/relationships/image" Target="../media/image37.png" /><Relationship Id="rId2" Type="http://schemas.openxmlformats.org/officeDocument/2006/relationships/image" Target="../media/image36.jpeg"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3" Type="http://schemas.openxmlformats.org/officeDocument/2006/relationships/image" Target="../media/image39.png" /><Relationship Id="rId7" Type="http://schemas.openxmlformats.org/officeDocument/2006/relationships/image" Target="../media/image43.jpeg" /><Relationship Id="rId2" Type="http://schemas.openxmlformats.org/officeDocument/2006/relationships/image" Target="../media/image38.jpeg" /><Relationship Id="rId1" Type="http://schemas.openxmlformats.org/officeDocument/2006/relationships/slideLayout" Target="../slideLayouts/slideLayout7.xml" /><Relationship Id="rId6" Type="http://schemas.openxmlformats.org/officeDocument/2006/relationships/image" Target="../media/image42.jpeg" /><Relationship Id="rId5" Type="http://schemas.openxmlformats.org/officeDocument/2006/relationships/image" Target="../media/image41.jpeg" /><Relationship Id="rId4" Type="http://schemas.openxmlformats.org/officeDocument/2006/relationships/image" Target="../media/image40.png" /></Relationships>
</file>

<file path=ppt/slides/_rels/slide41.xml.rels><?xml version="1.0" encoding="UTF-8" standalone="yes"?>
<Relationships xmlns="http://schemas.openxmlformats.org/package/2006/relationships"><Relationship Id="rId2" Type="http://schemas.openxmlformats.org/officeDocument/2006/relationships/image" Target="../media/image44.png"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2" Type="http://schemas.openxmlformats.org/officeDocument/2006/relationships/image" Target="../media/image45.png"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Relationship Id="rId3" Type="http://schemas.openxmlformats.org/officeDocument/2006/relationships/image" Target="../media/image47.jpeg" /><Relationship Id="rId2" Type="http://schemas.openxmlformats.org/officeDocument/2006/relationships/image" Target="../media/image46.jpeg" /><Relationship Id="rId1" Type="http://schemas.openxmlformats.org/officeDocument/2006/relationships/slideLayout" Target="../slideLayouts/slideLayout7.xml" /><Relationship Id="rId5" Type="http://schemas.openxmlformats.org/officeDocument/2006/relationships/image" Target="../media/image49.jpeg" /><Relationship Id="rId4" Type="http://schemas.openxmlformats.org/officeDocument/2006/relationships/image" Target="../media/image48.jpeg" /></Relationships>
</file>

<file path=ppt/slides/_rels/slide45.xml.rels><?xml version="1.0" encoding="UTF-8" standalone="yes"?>
<Relationships xmlns="http://schemas.openxmlformats.org/package/2006/relationships"><Relationship Id="rId3" Type="http://schemas.openxmlformats.org/officeDocument/2006/relationships/image" Target="../media/image51.jpeg" /><Relationship Id="rId2" Type="http://schemas.openxmlformats.org/officeDocument/2006/relationships/image" Target="../media/image50.png" /><Relationship Id="rId1" Type="http://schemas.openxmlformats.org/officeDocument/2006/relationships/slideLayout" Target="../slideLayouts/slideLayout7.xml" /><Relationship Id="rId4" Type="http://schemas.openxmlformats.org/officeDocument/2006/relationships/image" Target="../media/image52.jpeg" /></Relationships>
</file>

<file path=ppt/slides/_rels/slide46.xml.rels><?xml version="1.0" encoding="UTF-8" standalone="yes"?>
<Relationships xmlns="http://schemas.openxmlformats.org/package/2006/relationships"><Relationship Id="rId3" Type="http://schemas.openxmlformats.org/officeDocument/2006/relationships/image" Target="../media/image54.jpeg" /><Relationship Id="rId2" Type="http://schemas.openxmlformats.org/officeDocument/2006/relationships/image" Target="../media/image53.png" /><Relationship Id="rId1" Type="http://schemas.openxmlformats.org/officeDocument/2006/relationships/slideLayout" Target="../slideLayouts/slideLayout7.xml" /><Relationship Id="rId4" Type="http://schemas.openxmlformats.org/officeDocument/2006/relationships/image" Target="../media/image55.jpeg" /></Relationships>
</file>

<file path=ppt/slides/_rels/slide47.xml.rels><?xml version="1.0" encoding="UTF-8" standalone="yes"?>
<Relationships xmlns="http://schemas.openxmlformats.org/package/2006/relationships"><Relationship Id="rId2" Type="http://schemas.openxmlformats.org/officeDocument/2006/relationships/image" Target="../media/image56.jpeg"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Relationship Id="rId3" Type="http://schemas.openxmlformats.org/officeDocument/2006/relationships/image" Target="../media/image58.jpeg" /><Relationship Id="rId2" Type="http://schemas.openxmlformats.org/officeDocument/2006/relationships/image" Target="../media/image57.jpeg" /><Relationship Id="rId1" Type="http://schemas.openxmlformats.org/officeDocument/2006/relationships/slideLayout" Target="../slideLayouts/slideLayout7.xml" /><Relationship Id="rId5" Type="http://schemas.openxmlformats.org/officeDocument/2006/relationships/image" Target="../media/image52.jpeg" /><Relationship Id="rId4" Type="http://schemas.openxmlformats.org/officeDocument/2006/relationships/image" Target="../media/image59.jpeg" /></Relationships>
</file>

<file path=ppt/slides/_rels/slide49.xml.rels><?xml version="1.0" encoding="UTF-8" standalone="yes"?>
<Relationships xmlns="http://schemas.openxmlformats.org/package/2006/relationships"><Relationship Id="rId2" Type="http://schemas.openxmlformats.org/officeDocument/2006/relationships/image" Target="../media/image60.png" /><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2" Type="http://schemas.openxmlformats.org/officeDocument/2006/relationships/image" Target="../media/image61.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4"/>
          <p:cNvPicPr>
            <a:picLocks noChangeAspect="1" noChangeArrowheads="1"/>
          </p:cNvPicPr>
          <p:nvPr/>
        </p:nvPicPr>
        <p:blipFill>
          <a:blip r:embed="rId2">
            <a:lum bright="22000" contrast="2000"/>
            <a:extLst>
              <a:ext uri="{28A0092B-C50C-407E-A947-70E740481C1C}">
                <a14:useLocalDpi xmlns:a14="http://schemas.microsoft.com/office/drawing/2010/main" val="0"/>
              </a:ext>
            </a:extLst>
          </a:blip>
          <a:srcRect/>
          <a:stretch>
            <a:fillRect/>
          </a:stretch>
        </p:blipFill>
        <p:spPr bwMode="auto">
          <a:xfrm>
            <a:off x="1042988" y="239713"/>
            <a:ext cx="7921625" cy="6213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38" name="Rectangle 4"/>
          <p:cNvSpPr>
            <a:spLocks noGrp="1" noChangeArrowheads="1"/>
          </p:cNvSpPr>
          <p:nvPr>
            <p:ph type="ctrTitle"/>
          </p:nvPr>
        </p:nvSpPr>
        <p:spPr>
          <a:xfrm>
            <a:off x="1116013" y="2781300"/>
            <a:ext cx="7772400" cy="1470025"/>
          </a:xfrm>
        </p:spPr>
        <p:txBody>
          <a:bodyPr/>
          <a:lstStyle/>
          <a:p>
            <a:pPr eaLnBrk="1" hangingPunct="1"/>
            <a:r>
              <a:rPr lang="fr-FR" b="1" dirty="0">
                <a:solidFill>
                  <a:schemeClr val="accent2"/>
                </a:solidFill>
                <a:latin typeface="Arial" charset="0"/>
              </a:rPr>
              <a:t>PHYSIOLOGIE VEGETALE</a:t>
            </a:r>
          </a:p>
        </p:txBody>
      </p:sp>
      <p:sp>
        <p:nvSpPr>
          <p:cNvPr id="14339" name="Rectangle 5"/>
          <p:cNvSpPr>
            <a:spLocks noGrp="1" noChangeArrowheads="1"/>
          </p:cNvSpPr>
          <p:nvPr>
            <p:ph type="subTitle" idx="1"/>
          </p:nvPr>
        </p:nvSpPr>
        <p:spPr>
          <a:xfrm>
            <a:off x="1476375" y="4868863"/>
            <a:ext cx="6400800" cy="1752600"/>
          </a:xfrm>
        </p:spPr>
        <p:txBody>
          <a:bodyPr/>
          <a:lstStyle/>
          <a:p>
            <a:pPr eaLnBrk="1" hangingPunct="1"/>
            <a:endParaRPr lang="fr-FR" dirty="0">
              <a:latin typeface="Arial" charset="0"/>
            </a:endParaRPr>
          </a:p>
          <a:p>
            <a:pPr eaLnBrk="1" hangingPunct="1"/>
            <a:endParaRPr lang="fr-FR" dirty="0">
              <a:latin typeface="Arial" charset="0"/>
            </a:endParaRPr>
          </a:p>
          <a:p>
            <a:pPr eaLnBrk="1" hangingPunct="1"/>
            <a:r>
              <a:rPr lang="fr-FR" sz="2400" dirty="0">
                <a:latin typeface="Arial" charset="0"/>
              </a:rPr>
              <a:t>Année </a:t>
            </a:r>
            <a:r>
              <a:rPr lang="fr-FR" sz="2400">
                <a:latin typeface="Arial" charset="0"/>
              </a:rPr>
              <a:t>Universitaire 2024-2025 </a:t>
            </a:r>
            <a:r>
              <a:rPr lang="fr-FR" sz="2400" dirty="0">
                <a:latin typeface="Arial" charset="0"/>
              </a:rPr>
              <a:t>C.HOTIN </a:t>
            </a:r>
          </a:p>
        </p:txBody>
      </p:sp>
      <p:sp>
        <p:nvSpPr>
          <p:cNvPr id="2" name="ZoneTexte 1"/>
          <p:cNvSpPr txBox="1"/>
          <p:nvPr/>
        </p:nvSpPr>
        <p:spPr>
          <a:xfrm>
            <a:off x="4008010" y="4251325"/>
            <a:ext cx="2347714" cy="369332"/>
          </a:xfrm>
          <a:prstGeom prst="rect">
            <a:avLst/>
          </a:prstGeom>
          <a:solidFill>
            <a:srgbClr val="92D050"/>
          </a:solidFill>
        </p:spPr>
        <p:txBody>
          <a:bodyPr wrap="square" rtlCol="0">
            <a:spAutoFit/>
          </a:bodyPr>
          <a:lstStyle/>
          <a:p>
            <a:pPr algn="ctr"/>
            <a:r>
              <a:rPr lang="fr-FR" dirty="0"/>
              <a:t>Séance 2</a:t>
            </a:r>
          </a:p>
        </p:txBody>
      </p:sp>
    </p:spTree>
    <p:extLst>
      <p:ext uri="{BB962C8B-B14F-4D97-AF65-F5344CB8AC3E}">
        <p14:creationId xmlns:p14="http://schemas.microsoft.com/office/powerpoint/2010/main" val="4043924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re 1"/>
          <p:cNvSpPr>
            <a:spLocks noGrp="1"/>
          </p:cNvSpPr>
          <p:nvPr>
            <p:ph type="title"/>
          </p:nvPr>
        </p:nvSpPr>
        <p:spPr>
          <a:xfrm>
            <a:off x="468313" y="549275"/>
            <a:ext cx="8147050" cy="796925"/>
          </a:xfrm>
        </p:spPr>
        <p:txBody>
          <a:bodyPr/>
          <a:lstStyle/>
          <a:p>
            <a:r>
              <a:rPr lang="fr-FR" sz="3200" b="1" u="sng">
                <a:latin typeface="Arial" charset="0"/>
              </a:rPr>
              <a:t>II. Principes de la physiologie végétale </a:t>
            </a:r>
            <a:endParaRPr lang="fr-FR" sz="3200" b="1">
              <a:latin typeface="Arial" charset="0"/>
            </a:endParaRPr>
          </a:p>
        </p:txBody>
      </p:sp>
      <p:sp>
        <p:nvSpPr>
          <p:cNvPr id="33794" name="Espace réservé du contenu 2"/>
          <p:cNvSpPr>
            <a:spLocks noGrp="1"/>
          </p:cNvSpPr>
          <p:nvPr>
            <p:ph idx="1"/>
          </p:nvPr>
        </p:nvSpPr>
        <p:spPr>
          <a:xfrm>
            <a:off x="179388" y="1600200"/>
            <a:ext cx="8785225" cy="4525963"/>
          </a:xfrm>
        </p:spPr>
        <p:txBody>
          <a:bodyPr/>
          <a:lstStyle/>
          <a:p>
            <a:pPr algn="just" eaLnBrk="1" hangingPunct="1">
              <a:lnSpc>
                <a:spcPct val="80000"/>
              </a:lnSpc>
            </a:pPr>
            <a:r>
              <a:rPr lang="fr-FR" sz="2400" dirty="0">
                <a:latin typeface="Arial Narrow" panose="020B0606020202030204" pitchFamily="34" charset="0"/>
              </a:rPr>
              <a:t>La physiologie végétale est l</a:t>
            </a:r>
            <a:r>
              <a:rPr lang="ja-JP" altLang="fr-FR" sz="2400" dirty="0">
                <a:latin typeface="Arial Narrow" panose="020B0606020202030204" pitchFamily="34" charset="0"/>
              </a:rPr>
              <a:t>’</a:t>
            </a:r>
            <a:r>
              <a:rPr lang="fr-FR" altLang="ja-JP" sz="2400" dirty="0">
                <a:latin typeface="Arial Narrow" panose="020B0606020202030204" pitchFamily="34" charset="0"/>
              </a:rPr>
              <a:t>étude des mécanismes qui régissent le fonctionnement et le développement des végétaux ( physiologie et moléculaire). </a:t>
            </a:r>
          </a:p>
          <a:p>
            <a:pPr algn="just" eaLnBrk="1" hangingPunct="1">
              <a:lnSpc>
                <a:spcPct val="80000"/>
              </a:lnSpc>
            </a:pPr>
            <a:r>
              <a:rPr lang="fr-FR" sz="2400" dirty="0">
                <a:latin typeface="Arial Narrow" panose="020B0606020202030204" pitchFamily="34" charset="0"/>
              </a:rPr>
              <a:t> </a:t>
            </a:r>
          </a:p>
          <a:p>
            <a:pPr algn="just" eaLnBrk="1" hangingPunct="1">
              <a:lnSpc>
                <a:spcPct val="80000"/>
              </a:lnSpc>
              <a:buFontTx/>
              <a:buNone/>
            </a:pPr>
            <a:r>
              <a:rPr lang="fr-FR" sz="2400" dirty="0">
                <a:latin typeface="Arial Narrow" panose="020B0606020202030204" pitchFamily="34" charset="0"/>
              </a:rPr>
              <a:t>	</a:t>
            </a:r>
            <a:r>
              <a:rPr lang="fr-FR" sz="2000" dirty="0">
                <a:latin typeface="Arial Narrow" panose="020B0606020202030204" pitchFamily="34" charset="0"/>
              </a:rPr>
              <a:t>1/ </a:t>
            </a:r>
            <a:r>
              <a:rPr lang="fr-FR" sz="2000" dirty="0">
                <a:solidFill>
                  <a:srgbClr val="3366FF"/>
                </a:solidFill>
                <a:latin typeface="Arial Narrow" panose="020B0606020202030204" pitchFamily="34" charset="0"/>
              </a:rPr>
              <a:t>C</a:t>
            </a:r>
            <a:r>
              <a:rPr lang="fr-FR" altLang="ja-JP" sz="2000" dirty="0">
                <a:solidFill>
                  <a:srgbClr val="3366FF"/>
                </a:solidFill>
                <a:latin typeface="Arial Narrow" panose="020B0606020202030204" pitchFamily="34" charset="0"/>
              </a:rPr>
              <a:t>ycle du végétal : croissance et développement, formation des tissus.</a:t>
            </a:r>
          </a:p>
          <a:p>
            <a:pPr algn="just" eaLnBrk="1" hangingPunct="1">
              <a:lnSpc>
                <a:spcPct val="80000"/>
              </a:lnSpc>
              <a:buFontTx/>
              <a:buNone/>
            </a:pPr>
            <a:endParaRPr lang="fr-FR" altLang="ja-JP" sz="2000" dirty="0">
              <a:solidFill>
                <a:srgbClr val="3366FF"/>
              </a:solidFill>
              <a:latin typeface="Arial Narrow" panose="020B0606020202030204" pitchFamily="34" charset="0"/>
            </a:endParaRPr>
          </a:p>
          <a:p>
            <a:pPr algn="just" eaLnBrk="1" hangingPunct="1">
              <a:lnSpc>
                <a:spcPct val="80000"/>
              </a:lnSpc>
            </a:pPr>
            <a:r>
              <a:rPr lang="fr-FR" sz="2000" dirty="0">
                <a:latin typeface="Arial Narrow" panose="020B0606020202030204" pitchFamily="34" charset="0"/>
              </a:rPr>
              <a:t>2/ </a:t>
            </a:r>
            <a:r>
              <a:rPr lang="fr-FR" sz="2000" dirty="0">
                <a:solidFill>
                  <a:srgbClr val="3366FF"/>
                </a:solidFill>
                <a:latin typeface="Arial Narrow" panose="020B0606020202030204" pitchFamily="34" charset="0"/>
              </a:rPr>
              <a:t>Nutrition et métabolisme : c</a:t>
            </a:r>
            <a:r>
              <a:rPr lang="ja-JP" altLang="fr-FR" sz="2000" dirty="0">
                <a:solidFill>
                  <a:srgbClr val="3366FF"/>
                </a:solidFill>
                <a:latin typeface="Arial Narrow" panose="020B0606020202030204" pitchFamily="34" charset="0"/>
              </a:rPr>
              <a:t>’</a:t>
            </a:r>
            <a:r>
              <a:rPr lang="fr-FR" altLang="ja-JP" sz="2000" dirty="0">
                <a:solidFill>
                  <a:srgbClr val="3366FF"/>
                </a:solidFill>
                <a:latin typeface="Arial Narrow" panose="020B0606020202030204" pitchFamily="34" charset="0"/>
              </a:rPr>
              <a:t>est l</a:t>
            </a:r>
            <a:r>
              <a:rPr lang="ja-JP" altLang="fr-FR" sz="2000" dirty="0">
                <a:solidFill>
                  <a:srgbClr val="3366FF"/>
                </a:solidFill>
                <a:latin typeface="Arial Narrow" panose="020B0606020202030204" pitchFamily="34" charset="0"/>
              </a:rPr>
              <a:t>’</a:t>
            </a:r>
            <a:r>
              <a:rPr lang="fr-FR" altLang="ja-JP" sz="2000" dirty="0">
                <a:solidFill>
                  <a:srgbClr val="3366FF"/>
                </a:solidFill>
                <a:latin typeface="Arial Narrow" panose="020B0606020202030204" pitchFamily="34" charset="0"/>
              </a:rPr>
              <a:t>acquisition des éléments indispensables à la vie,  la transformation de ces éléments par leur intégration dans la matière organique (dans la biomasse).</a:t>
            </a:r>
          </a:p>
          <a:p>
            <a:pPr marL="0" indent="0" algn="just" eaLnBrk="1" hangingPunct="1">
              <a:lnSpc>
                <a:spcPct val="80000"/>
              </a:lnSpc>
              <a:buNone/>
            </a:pPr>
            <a:endParaRPr lang="fr-FR" sz="2000" dirty="0">
              <a:latin typeface="Arial Narrow" panose="020B0606020202030204" pitchFamily="34" charset="0"/>
            </a:endParaRPr>
          </a:p>
          <a:p>
            <a:pPr algn="just" eaLnBrk="1" hangingPunct="1">
              <a:lnSpc>
                <a:spcPct val="80000"/>
              </a:lnSpc>
              <a:buFontTx/>
              <a:buNone/>
            </a:pPr>
            <a:r>
              <a:rPr lang="fr-FR" sz="2000" dirty="0">
                <a:latin typeface="Arial Narrow" panose="020B0606020202030204" pitchFamily="34" charset="0"/>
              </a:rPr>
              <a:t>    3/ </a:t>
            </a:r>
            <a:r>
              <a:rPr lang="fr-FR" sz="2000" dirty="0">
                <a:solidFill>
                  <a:srgbClr val="3366FF"/>
                </a:solidFill>
                <a:latin typeface="Arial Narrow" panose="020B0606020202030204" pitchFamily="34" charset="0"/>
              </a:rPr>
              <a:t>Mécanismes de la reproduction </a:t>
            </a:r>
          </a:p>
          <a:p>
            <a:pPr>
              <a:buFont typeface="Courier New" charset="0"/>
              <a:buChar char="o"/>
            </a:pPr>
            <a:endParaRPr lang="fr-FR" sz="2000" dirty="0">
              <a:solidFill>
                <a:srgbClr val="000000"/>
              </a:solidFill>
              <a:latin typeface="Arial" charset="0"/>
            </a:endParaRPr>
          </a:p>
        </p:txBody>
      </p:sp>
      <p:sp>
        <p:nvSpPr>
          <p:cNvPr id="33795"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411335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re 1"/>
          <p:cNvSpPr>
            <a:spLocks noGrp="1"/>
          </p:cNvSpPr>
          <p:nvPr>
            <p:ph type="title"/>
          </p:nvPr>
        </p:nvSpPr>
        <p:spPr>
          <a:xfrm>
            <a:off x="457200" y="765175"/>
            <a:ext cx="8229600" cy="652463"/>
          </a:xfrm>
        </p:spPr>
        <p:txBody>
          <a:bodyPr/>
          <a:lstStyle/>
          <a:p>
            <a:r>
              <a:rPr lang="fr-FR" altLang="ja-JP" sz="3600" b="1">
                <a:solidFill>
                  <a:srgbClr val="3366FF"/>
                </a:solidFill>
                <a:latin typeface="Arial" charset="0"/>
              </a:rPr>
              <a:t>1.Croissance et Développement</a:t>
            </a:r>
            <a:endParaRPr lang="fr-FR" sz="3600" b="1">
              <a:latin typeface="Arial" charset="0"/>
            </a:endParaRPr>
          </a:p>
        </p:txBody>
      </p:sp>
      <p:sp>
        <p:nvSpPr>
          <p:cNvPr id="34818"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
        <p:nvSpPr>
          <p:cNvPr id="5" name="ZoneTexte 4"/>
          <p:cNvSpPr txBox="1"/>
          <p:nvPr/>
        </p:nvSpPr>
        <p:spPr>
          <a:xfrm>
            <a:off x="179512" y="1412776"/>
            <a:ext cx="8496944" cy="5170646"/>
          </a:xfrm>
          <a:prstGeom prst="rect">
            <a:avLst/>
          </a:prstGeom>
          <a:noFill/>
        </p:spPr>
        <p:txBody>
          <a:bodyPr wrap="square">
            <a:spAutoFit/>
          </a:bodyPr>
          <a:lstStyle/>
          <a:p>
            <a:pPr algn="just">
              <a:defRPr/>
            </a:pPr>
            <a:r>
              <a:rPr lang="fr-FR" sz="2400" dirty="0">
                <a:solidFill>
                  <a:srgbClr val="3366FF"/>
                </a:solidFill>
                <a:latin typeface="Arial Narrow" panose="020B0606020202030204" pitchFamily="34" charset="0"/>
              </a:rPr>
              <a:t>Croissance</a:t>
            </a:r>
            <a:r>
              <a:rPr lang="fr-FR" sz="2400" dirty="0">
                <a:latin typeface="Arial Narrow" panose="020B0606020202030204" pitchFamily="34" charset="0"/>
              </a:rPr>
              <a:t> = augmentation des dimensions, c’est un </a:t>
            </a:r>
            <a:r>
              <a:rPr lang="fr-FR" sz="2400" u="sng" dirty="0">
                <a:latin typeface="Arial Narrow" panose="020B0606020202030204" pitchFamily="34" charset="0"/>
              </a:rPr>
              <a:t>aspect quantitatif</a:t>
            </a:r>
            <a:r>
              <a:rPr lang="fr-FR" sz="2400" dirty="0">
                <a:latin typeface="Arial Narrow" panose="020B0606020202030204" pitchFamily="34" charset="0"/>
              </a:rPr>
              <a:t>, on la représente, soit une masse fraiche, soit une masse sèche. Les deux ont des inconvénients :</a:t>
            </a:r>
          </a:p>
          <a:p>
            <a:pPr marL="1200150" lvl="2" indent="-285750" algn="just">
              <a:buFont typeface="Arial"/>
              <a:buChar char="•"/>
              <a:defRPr/>
            </a:pPr>
            <a:r>
              <a:rPr lang="fr-FR" sz="2400" i="1" dirty="0">
                <a:latin typeface="Arial Narrow" panose="020B0606020202030204" pitchFamily="34" charset="0"/>
              </a:rPr>
              <a:t>La matière fraiche dépend de la quantité d’eau dans une plante, or celle-ci est variable.</a:t>
            </a:r>
          </a:p>
          <a:p>
            <a:pPr marL="1200150" lvl="2" indent="-285750" algn="just">
              <a:buFont typeface="Arial"/>
              <a:buChar char="•"/>
              <a:defRPr/>
            </a:pPr>
            <a:r>
              <a:rPr lang="fr-FR" sz="2400" i="1" dirty="0">
                <a:latin typeface="Arial Narrow" panose="020B0606020202030204" pitchFamily="34" charset="0"/>
              </a:rPr>
              <a:t>La matière sèche permet un aspect quantitatif, mais l’individu est perdu (passage au four) donc un suivi temporel ne peut pas être envisageable.</a:t>
            </a:r>
          </a:p>
          <a:p>
            <a:pPr marL="1200150" lvl="2" indent="-285750" algn="just">
              <a:buFont typeface="Arial"/>
              <a:buChar char="•"/>
              <a:defRPr/>
            </a:pPr>
            <a:r>
              <a:rPr lang="fr-FR" sz="2400" dirty="0">
                <a:latin typeface="Arial Narrow" panose="020B0606020202030204" pitchFamily="34" charset="0"/>
              </a:rPr>
              <a:t>la croissance au niveau cellulaire résulte à la fois d'une augmentation du nombre de cellule par multiplication cellulaire/</a:t>
            </a:r>
            <a:r>
              <a:rPr lang="fr-FR" sz="2400" b="1" dirty="0" err="1">
                <a:latin typeface="Arial Narrow" panose="020B0606020202030204" pitchFamily="34" charset="0"/>
              </a:rPr>
              <a:t>mérèse</a:t>
            </a:r>
            <a:r>
              <a:rPr lang="fr-FR" sz="2400" dirty="0">
                <a:latin typeface="Arial Narrow" panose="020B0606020202030204" pitchFamily="34" charset="0"/>
              </a:rPr>
              <a:t>, et de l'augmentation de </a:t>
            </a:r>
            <a:r>
              <a:rPr lang="fr-FR" sz="2400" b="1" dirty="0">
                <a:latin typeface="Arial Narrow" panose="020B0606020202030204" pitchFamily="34" charset="0"/>
              </a:rPr>
              <a:t>la taille des cellule</a:t>
            </a:r>
            <a:r>
              <a:rPr lang="fr-FR" sz="2400" dirty="0">
                <a:latin typeface="Arial Narrow" panose="020B0606020202030204" pitchFamily="34" charset="0"/>
              </a:rPr>
              <a:t>s).</a:t>
            </a:r>
          </a:p>
          <a:p>
            <a:pPr marL="1200150" lvl="2" indent="-285750" algn="just">
              <a:buFont typeface="Arial"/>
              <a:buChar char="•"/>
              <a:defRPr/>
            </a:pPr>
            <a:endParaRPr lang="fr-FR" sz="2400" dirty="0"/>
          </a:p>
          <a:p>
            <a:pPr lvl="2" algn="just">
              <a:defRPr/>
            </a:pPr>
            <a:endParaRPr lang="fr-FR" dirty="0"/>
          </a:p>
        </p:txBody>
      </p:sp>
    </p:spTree>
    <p:extLst>
      <p:ext uri="{BB962C8B-B14F-4D97-AF65-F5344CB8AC3E}">
        <p14:creationId xmlns:p14="http://schemas.microsoft.com/office/powerpoint/2010/main" val="1062432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620712"/>
            <a:ext cx="9144000" cy="6237287"/>
          </a:xfrm>
        </p:spPr>
        <p:txBody>
          <a:bodyPr/>
          <a:lstStyle/>
          <a:p>
            <a:pPr algn="just">
              <a:defRPr/>
            </a:pPr>
            <a:r>
              <a:rPr lang="fr-FR" sz="2400" dirty="0">
                <a:solidFill>
                  <a:srgbClr val="3366FF"/>
                </a:solidFill>
                <a:latin typeface="Arial Narrow" panose="020B0606020202030204" pitchFamily="34" charset="0"/>
              </a:rPr>
              <a:t>Développement</a:t>
            </a:r>
            <a:r>
              <a:rPr lang="fr-FR" sz="2400" dirty="0">
                <a:latin typeface="Arial Narrow" panose="020B0606020202030204" pitchFamily="34" charset="0"/>
              </a:rPr>
              <a:t>, inclus la croissance, mais aussi la différenciation des organes, tissu, forme, fonction... On a donc : l’organogénèse, l’histogénèse, morphogénèse… C’est un </a:t>
            </a:r>
            <a:r>
              <a:rPr lang="fr-FR" sz="2400" u="sng" dirty="0">
                <a:latin typeface="Arial Narrow" panose="020B0606020202030204" pitchFamily="34" charset="0"/>
              </a:rPr>
              <a:t>aspect qualitatif</a:t>
            </a:r>
            <a:r>
              <a:rPr lang="fr-FR" sz="2400" dirty="0">
                <a:latin typeface="Arial Narrow" panose="020B0606020202030204" pitchFamily="34" charset="0"/>
              </a:rPr>
              <a:t>.</a:t>
            </a:r>
            <a:r>
              <a:rPr lang="fr-FR" sz="2400" b="1" dirty="0">
                <a:latin typeface="Arial Narrow" panose="020B0606020202030204" pitchFamily="34" charset="0"/>
              </a:rPr>
              <a:t> Le développement végétal est l’ ensemble des modifications irréversibles.</a:t>
            </a:r>
          </a:p>
          <a:p>
            <a:pPr marL="0" indent="0" algn="just">
              <a:buNone/>
              <a:defRPr/>
            </a:pPr>
            <a:endParaRPr lang="fr-FR" sz="2400" dirty="0">
              <a:latin typeface="Arial Narrow" panose="020B0606020202030204" pitchFamily="34" charset="0"/>
            </a:endParaRPr>
          </a:p>
          <a:p>
            <a:pPr algn="just">
              <a:defRPr/>
            </a:pPr>
            <a:r>
              <a:rPr lang="fr-FR" sz="2400" dirty="0">
                <a:latin typeface="Arial Narrow" panose="020B0606020202030204" pitchFamily="34" charset="0"/>
              </a:rPr>
              <a:t>Pour compléter la croissance, les cellules doivent subir une différenciation/spécialisation, elles acquièrent alors des caractères structuraux et fonctionnels spécialisés).</a:t>
            </a:r>
          </a:p>
          <a:p>
            <a:pPr marL="0" indent="0" algn="just">
              <a:buFontTx/>
              <a:buNone/>
              <a:defRPr/>
            </a:pPr>
            <a:r>
              <a:rPr lang="fr-FR" sz="2400" b="1" i="1" dirty="0">
                <a:latin typeface="Arial Narrow" panose="020B0606020202030204" pitchFamily="34" charset="0"/>
              </a:rPr>
              <a:t>Pour fabriquer un végétal, il faut 40 types de cellules. Chaque cellule suit son destin, de sa lignée cellulaire, mais est influencée par les interactions cellulaires.</a:t>
            </a:r>
          </a:p>
          <a:p>
            <a:pPr marL="0" indent="0" algn="just">
              <a:buFontTx/>
              <a:buNone/>
              <a:defRPr/>
            </a:pPr>
            <a:endParaRPr lang="fr-FR" sz="2400" b="1" i="1" dirty="0">
              <a:latin typeface="Arial Narrow" panose="020B0606020202030204" pitchFamily="34" charset="0"/>
            </a:endParaRPr>
          </a:p>
          <a:p>
            <a:pPr marL="0" indent="0" algn="just">
              <a:buNone/>
              <a:defRPr/>
            </a:pPr>
            <a:r>
              <a:rPr lang="fr-FR" sz="2400" dirty="0">
                <a:latin typeface="Arial Narrow" panose="020B0606020202030204" pitchFamily="34" charset="0"/>
              </a:rPr>
              <a:t>Le développement d’un organisme dépend de trois processus cellulaires  </a:t>
            </a:r>
            <a:r>
              <a:rPr lang="fr-FR" sz="2400" dirty="0" err="1">
                <a:latin typeface="Arial Narrow" panose="020B0606020202030204" pitchFamily="34" charset="0"/>
              </a:rPr>
              <a:t>mérèse</a:t>
            </a:r>
            <a:r>
              <a:rPr lang="fr-FR" sz="2400" dirty="0">
                <a:latin typeface="Arial Narrow" panose="020B0606020202030204" pitchFamily="34" charset="0"/>
              </a:rPr>
              <a:t> (dans les méristèmes), auxèse (zones d’élongations cellulaires proches des méristèmes), différenciation cellulaire.  </a:t>
            </a:r>
          </a:p>
          <a:p>
            <a:pPr marL="0" indent="0" algn="just">
              <a:buFontTx/>
              <a:buNone/>
              <a:defRPr/>
            </a:pPr>
            <a:endParaRPr lang="fr-FR" sz="2400" b="1" i="1" dirty="0">
              <a:latin typeface="Arial Narrow" panose="020B0606020202030204" pitchFamily="34" charset="0"/>
            </a:endParaRPr>
          </a:p>
          <a:p>
            <a:pPr>
              <a:defRPr/>
            </a:pPr>
            <a:endParaRPr lang="fr-FR" dirty="0"/>
          </a:p>
        </p:txBody>
      </p:sp>
      <p:sp>
        <p:nvSpPr>
          <p:cNvPr id="35842"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259924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188640"/>
            <a:ext cx="8229600" cy="6048672"/>
          </a:xfrm>
        </p:spPr>
        <p:txBody>
          <a:bodyPr>
            <a:noAutofit/>
          </a:bodyPr>
          <a:lstStyle/>
          <a:p>
            <a:pPr algn="just"/>
            <a:r>
              <a:rPr lang="fr-FR" sz="2400" b="1" dirty="0">
                <a:latin typeface="Arial Narrow" panose="020B0606020202030204" pitchFamily="34" charset="0"/>
              </a:rPr>
              <a:t>Prolifération cellulaire </a:t>
            </a:r>
            <a:r>
              <a:rPr lang="fr-FR" sz="2400" dirty="0">
                <a:latin typeface="Arial Narrow" panose="020B0606020202030204" pitchFamily="34" charset="0"/>
              </a:rPr>
              <a:t>= </a:t>
            </a:r>
            <a:r>
              <a:rPr lang="fr-FR" sz="2400" dirty="0" err="1">
                <a:latin typeface="Arial Narrow" panose="020B0606020202030204" pitchFamily="34" charset="0"/>
              </a:rPr>
              <a:t>mérèse</a:t>
            </a:r>
            <a:r>
              <a:rPr lang="fr-FR" sz="2400" dirty="0">
                <a:latin typeface="Arial Narrow" panose="020B0606020202030204" pitchFamily="34" charset="0"/>
              </a:rPr>
              <a:t> = divisions cellulaires </a:t>
            </a:r>
          </a:p>
          <a:p>
            <a:pPr marL="0" indent="0">
              <a:buNone/>
            </a:pPr>
            <a:r>
              <a:rPr lang="fr-FR" sz="2400" dirty="0">
                <a:latin typeface="Arial Narrow" panose="020B0606020202030204" pitchFamily="34" charset="0"/>
              </a:rPr>
              <a:t> Localisation de la </a:t>
            </a:r>
            <a:r>
              <a:rPr lang="fr-FR" sz="2400" dirty="0" err="1">
                <a:latin typeface="Arial Narrow" panose="020B0606020202030204" pitchFamily="34" charset="0"/>
              </a:rPr>
              <a:t>mérèse</a:t>
            </a:r>
            <a:r>
              <a:rPr lang="fr-FR" sz="2400" dirty="0">
                <a:latin typeface="Arial Narrow" panose="020B0606020202030204" pitchFamily="34" charset="0"/>
              </a:rPr>
              <a:t> : les méristèmes :  </a:t>
            </a:r>
          </a:p>
          <a:p>
            <a:pPr algn="just"/>
            <a:r>
              <a:rPr lang="fr-FR" sz="2400" dirty="0">
                <a:latin typeface="Arial Narrow" panose="020B0606020202030204" pitchFamily="34" charset="0"/>
              </a:rPr>
              <a:t>Les méristèmes ont des tissus constitués de cellules </a:t>
            </a:r>
            <a:r>
              <a:rPr lang="fr-FR" sz="2400" dirty="0" err="1">
                <a:latin typeface="Arial Narrow" panose="020B0606020202030204" pitchFamily="34" charset="0"/>
              </a:rPr>
              <a:t>méristématiques</a:t>
            </a:r>
            <a:r>
              <a:rPr lang="fr-FR" sz="2400" dirty="0">
                <a:latin typeface="Arial Narrow" panose="020B0606020202030204" pitchFamily="34" charset="0"/>
              </a:rPr>
              <a:t> qui on les caractéristiques d'être indifférenciées et totipotentes (peuvent se spécialiser n'importe quelle cellules, équivalent aux cellules souches animales, divisions asymétriques en </a:t>
            </a:r>
          </a:p>
          <a:p>
            <a:pPr algn="just"/>
            <a:r>
              <a:rPr lang="fr-FR" sz="2400" dirty="0">
                <a:latin typeface="Arial Narrow" panose="020B0606020202030204" pitchFamily="34" charset="0"/>
              </a:rPr>
              <a:t>fonction de l'environnement → nouvelle cellule souche + cellule spécialisée). </a:t>
            </a:r>
          </a:p>
          <a:p>
            <a:pPr algn="just"/>
            <a:r>
              <a:rPr lang="fr-FR" sz="2400" dirty="0">
                <a:latin typeface="Arial Narrow" panose="020B0606020202030204" pitchFamily="34" charset="0"/>
              </a:rPr>
              <a:t>Les cellules </a:t>
            </a:r>
            <a:r>
              <a:rPr lang="fr-FR" sz="2400" dirty="0" err="1">
                <a:latin typeface="Arial Narrow" panose="020B0606020202030204" pitchFamily="34" charset="0"/>
              </a:rPr>
              <a:t>méristématiques</a:t>
            </a:r>
            <a:r>
              <a:rPr lang="fr-FR" sz="2400" dirty="0">
                <a:latin typeface="Arial Narrow" panose="020B0606020202030204" pitchFamily="34" charset="0"/>
              </a:rPr>
              <a:t> sont potentiellement à l'origine de tous les tissus. Les cellules </a:t>
            </a:r>
            <a:r>
              <a:rPr lang="fr-FR" sz="2400" dirty="0" err="1">
                <a:latin typeface="Arial Narrow" panose="020B0606020202030204" pitchFamily="34" charset="0"/>
              </a:rPr>
              <a:t>méristématiques</a:t>
            </a:r>
            <a:r>
              <a:rPr lang="fr-FR" sz="2400" dirty="0">
                <a:latin typeface="Arial Narrow" panose="020B0606020202030204" pitchFamily="34" charset="0"/>
              </a:rPr>
              <a:t> sont donc histogènes. </a:t>
            </a:r>
          </a:p>
          <a:p>
            <a:pPr marL="0" indent="0">
              <a:buNone/>
            </a:pPr>
            <a:endParaRPr lang="fr-FR" sz="2400" b="1" dirty="0">
              <a:latin typeface="Arial Narrow" panose="020B0606020202030204" pitchFamily="34" charset="0"/>
            </a:endParaRPr>
          </a:p>
          <a:p>
            <a:pPr marL="0" indent="0">
              <a:buNone/>
            </a:pPr>
            <a:r>
              <a:rPr lang="fr-FR" sz="2400" b="1" dirty="0">
                <a:latin typeface="Arial Narrow" panose="020B0606020202030204" pitchFamily="34" charset="0"/>
              </a:rPr>
              <a:t>Il n'y a qu'un méristème capable d'organogenèse : le méristème apical caulinaire (MAC)</a:t>
            </a:r>
          </a:p>
        </p:txBody>
      </p:sp>
      <p:sp>
        <p:nvSpPr>
          <p:cNvPr id="4"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3988221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201783"/>
            <a:ext cx="8229600" cy="4924380"/>
          </a:xfrm>
        </p:spPr>
        <p:txBody>
          <a:bodyPr/>
          <a:lstStyle/>
          <a:p>
            <a:pPr algn="just"/>
            <a:r>
              <a:rPr lang="fr-FR" sz="2800" dirty="0">
                <a:latin typeface="Arial Narrow" panose="020B0606020202030204" pitchFamily="34" charset="0"/>
              </a:rPr>
              <a:t>Le développement et la différenciation vont conduire à l’histogénèse (formation des tissus, ensembles de cellules spécialisées) et à l’organogénèse (formation des organes, ensembles de tissus spécialisés, comme par exemple la </a:t>
            </a:r>
            <a:r>
              <a:rPr lang="fr-FR" sz="2800" dirty="0" err="1">
                <a:latin typeface="Arial Narrow" panose="020B0606020202030204" pitchFamily="34" charset="0"/>
              </a:rPr>
              <a:t>rhizogénèse</a:t>
            </a:r>
            <a:r>
              <a:rPr lang="fr-FR" sz="2800" dirty="0">
                <a:latin typeface="Arial Narrow" panose="020B0606020202030204" pitchFamily="34" charset="0"/>
              </a:rPr>
              <a:t> et la </a:t>
            </a:r>
            <a:r>
              <a:rPr lang="fr-FR" sz="2800" dirty="0" err="1">
                <a:latin typeface="Arial Narrow" panose="020B0606020202030204" pitchFamily="34" charset="0"/>
              </a:rPr>
              <a:t>caulogénèse</a:t>
            </a:r>
            <a:r>
              <a:rPr lang="fr-FR" sz="2800" dirty="0">
                <a:latin typeface="Arial Narrow" panose="020B0606020202030204" pitchFamily="34" charset="0"/>
              </a:rPr>
              <a:t>).</a:t>
            </a:r>
          </a:p>
          <a:p>
            <a:pPr algn="just"/>
            <a:endParaRPr lang="fr-FR" sz="2800" dirty="0">
              <a:latin typeface="Arial Narrow" panose="020B0606020202030204" pitchFamily="34" charset="0"/>
            </a:endParaRPr>
          </a:p>
          <a:p>
            <a:pPr algn="just"/>
            <a:r>
              <a:rPr lang="fr-FR" sz="2800" dirty="0">
                <a:latin typeface="Arial Narrow" panose="020B0606020202030204" pitchFamily="34" charset="0"/>
              </a:rPr>
              <a:t> L’ensemble de ces développements constituent la morphogénèse (élaboration de nouvelles structures morphologiques et fonctionnelles).</a:t>
            </a:r>
          </a:p>
        </p:txBody>
      </p:sp>
      <p:sp>
        <p:nvSpPr>
          <p:cNvPr id="4"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58056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457200" y="981075"/>
            <a:ext cx="8229600" cy="5149850"/>
          </a:xfrm>
        </p:spPr>
        <p:txBody>
          <a:bodyPr/>
          <a:lstStyle/>
          <a:p>
            <a:pPr eaLnBrk="1" hangingPunct="1"/>
            <a:r>
              <a:rPr lang="fr-FR" b="1" dirty="0">
                <a:solidFill>
                  <a:srgbClr val="3366FF"/>
                </a:solidFill>
                <a:latin typeface="Arial" charset="0"/>
              </a:rPr>
              <a:t>A\ La croissance.</a:t>
            </a:r>
            <a:endParaRPr lang="fr-FR" dirty="0">
              <a:solidFill>
                <a:srgbClr val="3366FF"/>
              </a:solidFill>
              <a:latin typeface="Arial" charset="0"/>
            </a:endParaRPr>
          </a:p>
          <a:p>
            <a:pPr marL="342900" lvl="1" indent="-342900" algn="just" eaLnBrk="1" hangingPunct="1">
              <a:buFontTx/>
              <a:buNone/>
            </a:pPr>
            <a:r>
              <a:rPr lang="fr-FR" dirty="0">
                <a:latin typeface="Arial" charset="0"/>
              </a:rPr>
              <a:t>	</a:t>
            </a:r>
            <a:r>
              <a:rPr lang="fr-FR" sz="2400" dirty="0">
                <a:latin typeface="Arial Narrow" panose="020B0606020202030204" pitchFamily="34" charset="0"/>
              </a:rPr>
              <a:t>Chaque cellule va passer par une série d</a:t>
            </a:r>
            <a:r>
              <a:rPr lang="ja-JP" altLang="fr-FR" sz="2400" dirty="0">
                <a:latin typeface="Arial Narrow" panose="020B0606020202030204" pitchFamily="34" charset="0"/>
              </a:rPr>
              <a:t>’</a:t>
            </a:r>
            <a:r>
              <a:rPr lang="fr-FR" altLang="ja-JP" sz="2400" dirty="0">
                <a:latin typeface="Arial Narrow" panose="020B0606020202030204" pitchFamily="34" charset="0"/>
              </a:rPr>
              <a:t>étapes qui correspondent à une suite d</a:t>
            </a:r>
            <a:r>
              <a:rPr lang="ja-JP" altLang="fr-FR" sz="2400" dirty="0">
                <a:latin typeface="Arial Narrow" panose="020B0606020202030204" pitchFamily="34" charset="0"/>
              </a:rPr>
              <a:t>’</a:t>
            </a:r>
            <a:r>
              <a:rPr lang="fr-FR" altLang="ja-JP" sz="2400" dirty="0">
                <a:latin typeface="Arial Narrow" panose="020B0606020202030204" pitchFamily="34" charset="0"/>
              </a:rPr>
              <a:t>augmentations des dimensions de celle-ci. Les modifications quantitatives représentent la croissance (les modifications irréversibles se produisant au cours du temps). On a, par exemple, l</a:t>
            </a:r>
            <a:r>
              <a:rPr lang="ja-JP" altLang="fr-FR" sz="2400" dirty="0">
                <a:latin typeface="Arial Narrow" panose="020B0606020202030204" pitchFamily="34" charset="0"/>
              </a:rPr>
              <a:t>’</a:t>
            </a:r>
            <a:r>
              <a:rPr lang="fr-FR" altLang="ja-JP" sz="2400" dirty="0">
                <a:latin typeface="Arial Narrow" panose="020B0606020202030204" pitchFamily="34" charset="0"/>
              </a:rPr>
              <a:t>augmentation de taille, de volume, de masse.</a:t>
            </a:r>
          </a:p>
          <a:p>
            <a:pPr marL="342900" lvl="1" indent="-342900" algn="just" eaLnBrk="1" hangingPunct="1">
              <a:buFontTx/>
              <a:buNone/>
            </a:pPr>
            <a:endParaRPr lang="fr-FR" altLang="ja-JP" sz="2400" dirty="0">
              <a:latin typeface="Arial Narrow" panose="020B0606020202030204" pitchFamily="34" charset="0"/>
            </a:endParaRPr>
          </a:p>
          <a:p>
            <a:pPr algn="just" eaLnBrk="1" hangingPunct="1">
              <a:buFont typeface="Wingdings" charset="0"/>
              <a:buChar char="Ø"/>
            </a:pPr>
            <a:r>
              <a:rPr lang="fr-FR" sz="2400" b="1" u="sng" dirty="0">
                <a:latin typeface="Arial" charset="0"/>
              </a:rPr>
              <a:t>Au niveau de la plante et des organes</a:t>
            </a:r>
          </a:p>
          <a:p>
            <a:pPr algn="just" eaLnBrk="1" hangingPunct="1">
              <a:buFontTx/>
              <a:buNone/>
            </a:pPr>
            <a:r>
              <a:rPr lang="fr-FR" sz="2400" dirty="0">
                <a:latin typeface="Arial" charset="0"/>
              </a:rPr>
              <a:t>	</a:t>
            </a:r>
            <a:r>
              <a:rPr lang="fr-FR" sz="2400" dirty="0">
                <a:latin typeface="Arial Narrow" panose="020B0606020202030204" pitchFamily="34" charset="0"/>
              </a:rPr>
              <a:t>Grâce aux méristèmes, la croissance d</a:t>
            </a:r>
            <a:r>
              <a:rPr lang="ja-JP" altLang="fr-FR" sz="2400" dirty="0">
                <a:latin typeface="Arial Narrow" panose="020B0606020202030204" pitchFamily="34" charset="0"/>
              </a:rPr>
              <a:t>’</a:t>
            </a:r>
            <a:r>
              <a:rPr lang="fr-FR" altLang="ja-JP" sz="2400" dirty="0">
                <a:latin typeface="Arial Narrow" panose="020B0606020202030204" pitchFamily="34" charset="0"/>
              </a:rPr>
              <a:t>une plante est en générale indéfinie (notion de taille adulte pour des organes). Une plante est soumise à deux types de croissance :</a:t>
            </a:r>
          </a:p>
          <a:p>
            <a:pPr eaLnBrk="1" hangingPunct="1">
              <a:buFontTx/>
              <a:buNone/>
            </a:pPr>
            <a:endParaRPr lang="fr-FR" dirty="0">
              <a:latin typeface="Arial" charset="0"/>
            </a:endParaRPr>
          </a:p>
          <a:p>
            <a:pPr eaLnBrk="1" hangingPunct="1">
              <a:buFontTx/>
              <a:buNone/>
            </a:pPr>
            <a:endParaRPr lang="fr-FR" dirty="0">
              <a:latin typeface="Arial" charset="0"/>
            </a:endParaRPr>
          </a:p>
          <a:p>
            <a:pPr eaLnBrk="1" hangingPunct="1">
              <a:buFontTx/>
              <a:buNone/>
            </a:pPr>
            <a:endParaRPr lang="fr-FR" dirty="0">
              <a:latin typeface="Arial" charset="0"/>
            </a:endParaRPr>
          </a:p>
          <a:p>
            <a:pPr eaLnBrk="1" hangingPunct="1">
              <a:buFontTx/>
              <a:buNone/>
            </a:pPr>
            <a:endParaRPr lang="fr-FR" dirty="0">
              <a:latin typeface="Arial" charset="0"/>
            </a:endParaRPr>
          </a:p>
          <a:p>
            <a:pPr eaLnBrk="1" hangingPunct="1">
              <a:buFontTx/>
              <a:buNone/>
            </a:pPr>
            <a:endParaRPr lang="fr-FR" dirty="0">
              <a:latin typeface="Arial" charset="0"/>
            </a:endParaRPr>
          </a:p>
        </p:txBody>
      </p:sp>
      <p:sp>
        <p:nvSpPr>
          <p:cNvPr id="36866" name="ZoneTexte 2"/>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1187997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checkerboard(across)">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checkerboard(across)">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267">
                                            <p:txEl>
                                              <p:pRg st="3" end="3"/>
                                            </p:txEl>
                                          </p:spTgt>
                                        </p:tgtEl>
                                        <p:attrNameLst>
                                          <p:attrName>style.visibility</p:attrName>
                                        </p:attrNameLst>
                                      </p:cBhvr>
                                      <p:to>
                                        <p:strVal val="visible"/>
                                      </p:to>
                                    </p:set>
                                    <p:animEffect transition="in" filter="checkerboard(across)">
                                      <p:cBhvr>
                                        <p:cTn id="17" dur="500"/>
                                        <p:tgtEl>
                                          <p:spTgt spid="1126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1267">
                                            <p:txEl>
                                              <p:pRg st="4" end="4"/>
                                            </p:txEl>
                                          </p:spTgt>
                                        </p:tgtEl>
                                        <p:attrNameLst>
                                          <p:attrName>style.visibility</p:attrName>
                                        </p:attrNameLst>
                                      </p:cBhvr>
                                      <p:to>
                                        <p:strVal val="visible"/>
                                      </p:to>
                                    </p:set>
                                    <p:animEffect transition="in" filter="checkerboard(across)">
                                      <p:cBhvr>
                                        <p:cTn id="22" dur="500"/>
                                        <p:tgtEl>
                                          <p:spTgt spid="112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7" name="Picture 5" descr="d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557338"/>
            <a:ext cx="7561262" cy="48815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8914"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37577885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5477"/>
                                        </p:tgtEl>
                                        <p:attrNameLst>
                                          <p:attrName>style.visibility</p:attrName>
                                        </p:attrNameLst>
                                      </p:cBhvr>
                                      <p:to>
                                        <p:strVal val="visible"/>
                                      </p:to>
                                    </p:set>
                                    <p:animEffect transition="in" filter="checkerboard(across)">
                                      <p:cBhvr>
                                        <p:cTn id="7" dur="500"/>
                                        <p:tgtEl>
                                          <p:spTgt spid="105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346393" y="1796370"/>
            <a:ext cx="8229600" cy="4525962"/>
          </a:xfrm>
        </p:spPr>
        <p:txBody>
          <a:bodyPr/>
          <a:lstStyle/>
          <a:p>
            <a:pPr algn="just" eaLnBrk="1" hangingPunct="1">
              <a:lnSpc>
                <a:spcPct val="90000"/>
              </a:lnSpc>
              <a:buFontTx/>
              <a:buNone/>
            </a:pPr>
            <a:r>
              <a:rPr lang="fr-FR" sz="2800" dirty="0">
                <a:latin typeface="Arial" charset="0"/>
              </a:rPr>
              <a:t>	</a:t>
            </a:r>
            <a:r>
              <a:rPr lang="fr-FR" sz="2400" dirty="0">
                <a:latin typeface="Arial Narrow" panose="020B0606020202030204" pitchFamily="34" charset="0"/>
              </a:rPr>
              <a:t>• </a:t>
            </a:r>
            <a:r>
              <a:rPr lang="fr-FR" sz="2400" b="1" u="sng" dirty="0">
                <a:latin typeface="Arial Narrow" panose="020B0606020202030204" pitchFamily="34" charset="0"/>
              </a:rPr>
              <a:t>La croissance primaire</a:t>
            </a:r>
            <a:r>
              <a:rPr lang="fr-FR" sz="2400" dirty="0">
                <a:latin typeface="Arial Narrow" panose="020B0606020202030204" pitchFamily="34" charset="0"/>
              </a:rPr>
              <a:t> : c</a:t>
            </a:r>
            <a:r>
              <a:rPr lang="ja-JP" altLang="fr-FR" sz="2400" dirty="0">
                <a:latin typeface="Arial Narrow" panose="020B0606020202030204" pitchFamily="34" charset="0"/>
              </a:rPr>
              <a:t>’</a:t>
            </a:r>
            <a:r>
              <a:rPr lang="fr-FR" altLang="ja-JP" sz="2400" dirty="0">
                <a:latin typeface="Arial Narrow" panose="020B0606020202030204" pitchFamily="34" charset="0"/>
              </a:rPr>
              <a:t>est l</a:t>
            </a:r>
            <a:r>
              <a:rPr lang="ja-JP" altLang="fr-FR" sz="2400" dirty="0">
                <a:latin typeface="Arial Narrow" panose="020B0606020202030204" pitchFamily="34" charset="0"/>
              </a:rPr>
              <a:t>’</a:t>
            </a:r>
            <a:r>
              <a:rPr lang="fr-FR" altLang="ja-JP" sz="2400" dirty="0">
                <a:latin typeface="Arial Narrow" panose="020B0606020202030204" pitchFamily="34" charset="0"/>
              </a:rPr>
              <a:t>élongation. Elle a lieu au niveau des méristèmes apicaux (organogènes). Ce type de développement est remarquable chez tous les végétaux : c</a:t>
            </a:r>
            <a:r>
              <a:rPr lang="ja-JP" altLang="fr-FR" sz="2400" dirty="0">
                <a:latin typeface="Arial Narrow" panose="020B0606020202030204" pitchFamily="34" charset="0"/>
              </a:rPr>
              <a:t>’</a:t>
            </a:r>
            <a:r>
              <a:rPr lang="fr-FR" altLang="ja-JP" sz="2400" dirty="0">
                <a:latin typeface="Arial Narrow" panose="020B0606020202030204" pitchFamily="34" charset="0"/>
              </a:rPr>
              <a:t>est le port herbacé des plantes.</a:t>
            </a:r>
          </a:p>
          <a:p>
            <a:pPr algn="just" eaLnBrk="1" hangingPunct="1">
              <a:lnSpc>
                <a:spcPct val="90000"/>
              </a:lnSpc>
              <a:buFontTx/>
              <a:buNone/>
            </a:pPr>
            <a:endParaRPr lang="fr-FR" altLang="ja-JP" sz="2400" dirty="0">
              <a:latin typeface="Arial Narrow" panose="020B0606020202030204" pitchFamily="34" charset="0"/>
            </a:endParaRPr>
          </a:p>
          <a:p>
            <a:pPr algn="just" eaLnBrk="1" hangingPunct="1">
              <a:lnSpc>
                <a:spcPct val="90000"/>
              </a:lnSpc>
              <a:buFontTx/>
              <a:buNone/>
            </a:pPr>
            <a:r>
              <a:rPr lang="fr-FR" sz="2400" dirty="0">
                <a:latin typeface="Arial Narrow" panose="020B0606020202030204" pitchFamily="34" charset="0"/>
              </a:rPr>
              <a:t>• </a:t>
            </a:r>
            <a:r>
              <a:rPr lang="fr-FR" sz="2400" b="1" u="sng" dirty="0">
                <a:latin typeface="Arial Narrow" panose="020B0606020202030204" pitchFamily="34" charset="0"/>
              </a:rPr>
              <a:t>La croissance secondaire</a:t>
            </a:r>
            <a:r>
              <a:rPr lang="fr-FR" sz="2400" dirty="0">
                <a:latin typeface="Arial Narrow" panose="020B0606020202030204" pitchFamily="34" charset="0"/>
              </a:rPr>
              <a:t> : c</a:t>
            </a:r>
            <a:r>
              <a:rPr lang="ja-JP" altLang="fr-FR" sz="2400" dirty="0">
                <a:latin typeface="Arial Narrow" panose="020B0606020202030204" pitchFamily="34" charset="0"/>
              </a:rPr>
              <a:t>’</a:t>
            </a:r>
            <a:r>
              <a:rPr lang="fr-FR" altLang="ja-JP" sz="2400" dirty="0">
                <a:latin typeface="Arial Narrow" panose="020B0606020202030204" pitchFamily="34" charset="0"/>
              </a:rPr>
              <a:t>est l</a:t>
            </a:r>
            <a:r>
              <a:rPr lang="ja-JP" altLang="fr-FR" sz="2400" dirty="0">
                <a:latin typeface="Arial Narrow" panose="020B0606020202030204" pitchFamily="34" charset="0"/>
              </a:rPr>
              <a:t>’</a:t>
            </a:r>
            <a:r>
              <a:rPr lang="fr-FR" altLang="ja-JP" sz="2400" dirty="0">
                <a:latin typeface="Arial Narrow" panose="020B0606020202030204" pitchFamily="34" charset="0"/>
              </a:rPr>
              <a:t>augmentation en épaisseur. Elle a lieu au niveau des cambiums ou de zones génératrices (histogènes). Ce développement n</a:t>
            </a:r>
            <a:r>
              <a:rPr lang="ja-JP" altLang="fr-FR" sz="2400" dirty="0">
                <a:latin typeface="Arial Narrow" panose="020B0606020202030204" pitchFamily="34" charset="0"/>
              </a:rPr>
              <a:t>’</a:t>
            </a:r>
            <a:r>
              <a:rPr lang="fr-FR" altLang="ja-JP" sz="2400" dirty="0">
                <a:latin typeface="Arial Narrow" panose="020B0606020202030204" pitchFamily="34" charset="0"/>
              </a:rPr>
              <a:t>a lieu que chez les plantes ligneuses.</a:t>
            </a:r>
          </a:p>
          <a:p>
            <a:pPr eaLnBrk="1" hangingPunct="1">
              <a:lnSpc>
                <a:spcPct val="90000"/>
              </a:lnSpc>
            </a:pPr>
            <a:endParaRPr lang="fr-FR" dirty="0">
              <a:latin typeface="Arial" charset="0"/>
            </a:endParaRPr>
          </a:p>
        </p:txBody>
      </p:sp>
      <p:sp>
        <p:nvSpPr>
          <p:cNvPr id="37890" name="ZoneTexte 2"/>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861885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checkerboard(across)">
                                      <p:cBhvr>
                                        <p:cTn id="7" dur="500"/>
                                        <p:tgtEl>
                                          <p:spTgt spid="5837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8371">
                                            <p:txEl>
                                              <p:pRg st="2" end="2"/>
                                            </p:txEl>
                                          </p:spTgt>
                                        </p:tgtEl>
                                        <p:attrNameLst>
                                          <p:attrName>style.visibility</p:attrName>
                                        </p:attrNameLst>
                                      </p:cBhvr>
                                      <p:to>
                                        <p:strVal val="visible"/>
                                      </p:to>
                                    </p:set>
                                    <p:animEffect transition="in" filter="checkerboard(across)">
                                      <p:cBhvr>
                                        <p:cTn id="12" dur="500"/>
                                        <p:tgtEl>
                                          <p:spTgt spid="583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556792"/>
            <a:ext cx="8229600" cy="3790271"/>
          </a:xfrm>
        </p:spPr>
        <p:txBody>
          <a:bodyPr/>
          <a:lstStyle/>
          <a:p>
            <a:pPr algn="just"/>
            <a:r>
              <a:rPr lang="fr-FR" sz="2400" dirty="0">
                <a:latin typeface="Arial Narrow" panose="020B0606020202030204" pitchFamily="34" charset="0"/>
              </a:rPr>
              <a:t>La division est composée de deux étapes : la </a:t>
            </a:r>
            <a:r>
              <a:rPr lang="fr-FR" sz="2400" dirty="0" err="1">
                <a:latin typeface="Arial Narrow" panose="020B0606020202030204" pitchFamily="34" charset="0"/>
              </a:rPr>
              <a:t>caryokinèse</a:t>
            </a:r>
            <a:r>
              <a:rPr lang="fr-FR" sz="2400" dirty="0">
                <a:latin typeface="Arial Narrow" panose="020B0606020202030204" pitchFamily="34" charset="0"/>
              </a:rPr>
              <a:t> (division du matériel génétique = mitose), puis la </a:t>
            </a:r>
            <a:r>
              <a:rPr lang="fr-FR" sz="2400" dirty="0" err="1">
                <a:latin typeface="Arial Narrow" panose="020B0606020202030204" pitchFamily="34" charset="0"/>
              </a:rPr>
              <a:t>cytokinèse</a:t>
            </a:r>
            <a:r>
              <a:rPr lang="fr-FR" sz="2400" dirty="0">
                <a:latin typeface="Arial Narrow" panose="020B0606020202030204" pitchFamily="34" charset="0"/>
              </a:rPr>
              <a:t>/</a:t>
            </a:r>
            <a:r>
              <a:rPr lang="fr-FR" sz="2400" dirty="0" err="1">
                <a:latin typeface="Arial Narrow" panose="020B0606020202030204" pitchFamily="34" charset="0"/>
              </a:rPr>
              <a:t>cytocinèse</a:t>
            </a:r>
            <a:r>
              <a:rPr lang="fr-FR" sz="2400" dirty="0">
                <a:latin typeface="Arial Narrow" panose="020B0606020202030204" pitchFamily="34" charset="0"/>
              </a:rPr>
              <a:t>/cytodiérèse (division du reste de la cellule : membrane plasmique et paroi = cloisonnement des deux cellules filles). </a:t>
            </a:r>
          </a:p>
          <a:p>
            <a:pPr marL="0" indent="0" algn="just">
              <a:buNone/>
            </a:pPr>
            <a:endParaRPr lang="fr-FR" sz="2400" dirty="0">
              <a:latin typeface="Arial Narrow" panose="020B0606020202030204" pitchFamily="34" charset="0"/>
            </a:endParaRPr>
          </a:p>
          <a:p>
            <a:pPr algn="just"/>
            <a:r>
              <a:rPr lang="fr-FR" sz="2400" dirty="0">
                <a:latin typeface="Arial Narrow" panose="020B0606020202030204" pitchFamily="34" charset="0"/>
              </a:rPr>
              <a:t>Les cellules végétales réaliseront un cloisonnement par la construction de la paroi en plus de la membrane plasmique (vésicules portant les constituants, accumulation). </a:t>
            </a:r>
          </a:p>
          <a:p>
            <a:endParaRPr lang="fr-FR" sz="2400" dirty="0"/>
          </a:p>
        </p:txBody>
      </p:sp>
      <p:sp>
        <p:nvSpPr>
          <p:cNvPr id="4"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2964657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algn="just"/>
            <a:r>
              <a:rPr lang="fr-FR" sz="2400" dirty="0">
                <a:latin typeface="Arial Narrow" panose="020B0606020202030204" pitchFamily="34" charset="0"/>
              </a:rPr>
              <a:t>Les nouveaux éléments constitutifs de la paroi vont s'organiser différemment en fonction de leur position (paroi primaire ou secondaire). Les éléments pariétaux de la paroi primaire vont s'intercaler : c'est une croissance par intussusception. Les éléments pariétaux de la paroi secondaire vont s'apposer en couches successives.</a:t>
            </a:r>
          </a:p>
        </p:txBody>
      </p:sp>
      <p:sp>
        <p:nvSpPr>
          <p:cNvPr id="4" name="ZoneTexte 3"/>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409552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Rectangle 3"/>
          <p:cNvSpPr>
            <a:spLocks noGrp="1" noChangeArrowheads="1"/>
          </p:cNvSpPr>
          <p:nvPr>
            <p:ph type="body" idx="1"/>
          </p:nvPr>
        </p:nvSpPr>
        <p:spPr>
          <a:xfrm>
            <a:off x="457200" y="1219200"/>
            <a:ext cx="8229600" cy="1497876"/>
          </a:xfrm>
        </p:spPr>
        <p:txBody>
          <a:bodyPr>
            <a:normAutofit fontScale="32500" lnSpcReduction="20000"/>
          </a:bodyPr>
          <a:lstStyle/>
          <a:p>
            <a:pPr algn="just" eaLnBrk="1" hangingPunct="1">
              <a:lnSpc>
                <a:spcPct val="80000"/>
              </a:lnSpc>
            </a:pPr>
            <a:r>
              <a:rPr lang="fr-FR" sz="7400" b="1" dirty="0">
                <a:latin typeface="Arial Narrow" panose="020B0606020202030204" pitchFamily="34" charset="0"/>
              </a:rPr>
              <a:t>Les méristèmes primaires </a:t>
            </a:r>
            <a:r>
              <a:rPr lang="fr-FR" sz="7400" dirty="0">
                <a:latin typeface="Arial Narrow" panose="020B0606020202030204" pitchFamily="34" charset="0"/>
              </a:rPr>
              <a:t>sont chez toutes les plantes et apparaissent de façon primaire et assure la croissance longitudinale. Les cellules débutent par un stade embryonnaire et sont situées dans une zone active dans laquelle il y a une forte activité de division cellulaire.</a:t>
            </a:r>
          </a:p>
          <a:p>
            <a:pPr marL="0" indent="0" algn="just" eaLnBrk="1" hangingPunct="1">
              <a:lnSpc>
                <a:spcPct val="80000"/>
              </a:lnSpc>
              <a:buNone/>
            </a:pPr>
            <a:r>
              <a:rPr lang="fr-FR" sz="2800" dirty="0">
                <a:latin typeface="Arial" charset="0"/>
              </a:rPr>
              <a:t> </a:t>
            </a:r>
            <a:br>
              <a:rPr lang="fr-FR" sz="2800" dirty="0">
                <a:latin typeface="Arial" charset="0"/>
              </a:rPr>
            </a:br>
            <a:br>
              <a:rPr lang="fr-FR" sz="2800" dirty="0">
                <a:latin typeface="Arial" charset="0"/>
              </a:rPr>
            </a:br>
            <a:endParaRPr lang="fr-FR" sz="2800" dirty="0">
              <a:latin typeface="Arial" charset="0"/>
            </a:endParaRPr>
          </a:p>
        </p:txBody>
      </p:sp>
      <p:sp>
        <p:nvSpPr>
          <p:cNvPr id="39938" name="ZoneTexte 2"/>
          <p:cNvSpPr txBox="1">
            <a:spLocks noChangeArrowheads="1"/>
          </p:cNvSpPr>
          <p:nvPr/>
        </p:nvSpPr>
        <p:spPr bwMode="auto">
          <a:xfrm>
            <a:off x="6978650" y="-26988"/>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pic>
        <p:nvPicPr>
          <p:cNvPr id="2" name="Image 1"/>
          <p:cNvPicPr>
            <a:picLocks noChangeAspect="1"/>
          </p:cNvPicPr>
          <p:nvPr/>
        </p:nvPicPr>
        <p:blipFill>
          <a:blip r:embed="rId3"/>
          <a:stretch>
            <a:fillRect/>
          </a:stretch>
        </p:blipFill>
        <p:spPr>
          <a:xfrm>
            <a:off x="0" y="2780928"/>
            <a:ext cx="9144000" cy="2891481"/>
          </a:xfrm>
          <a:prstGeom prst="rect">
            <a:avLst/>
          </a:prstGeom>
        </p:spPr>
      </p:pic>
    </p:spTree>
    <p:extLst>
      <p:ext uri="{BB962C8B-B14F-4D97-AF65-F5344CB8AC3E}">
        <p14:creationId xmlns:p14="http://schemas.microsoft.com/office/powerpoint/2010/main" val="2591237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04665"/>
            <a:ext cx="8229600" cy="3240359"/>
          </a:xfrm>
        </p:spPr>
        <p:txBody>
          <a:bodyPr>
            <a:normAutofit fontScale="92500" lnSpcReduction="20000"/>
          </a:bodyPr>
          <a:lstStyle/>
          <a:p>
            <a:pPr algn="just" eaLnBrk="1" hangingPunct="1">
              <a:lnSpc>
                <a:spcPct val="80000"/>
              </a:lnSpc>
            </a:pPr>
            <a:r>
              <a:rPr lang="fr-FR" sz="2600" dirty="0">
                <a:latin typeface="Arial Narrow" panose="020B0606020202030204" pitchFamily="34" charset="0"/>
              </a:rPr>
              <a:t>Les cellules </a:t>
            </a:r>
            <a:r>
              <a:rPr lang="fr-FR" sz="2600" dirty="0" err="1">
                <a:latin typeface="Arial Narrow" panose="020B0606020202030204" pitchFamily="34" charset="0"/>
              </a:rPr>
              <a:t>méristèmatiques</a:t>
            </a:r>
            <a:r>
              <a:rPr lang="fr-FR" sz="2600" dirty="0">
                <a:latin typeface="Arial Narrow" panose="020B0606020202030204" pitchFamily="34" charset="0"/>
              </a:rPr>
              <a:t> forment un tissu végétal indifférencié à fort pouvoir mitotique.</a:t>
            </a:r>
          </a:p>
          <a:p>
            <a:pPr algn="just" eaLnBrk="1" hangingPunct="1">
              <a:lnSpc>
                <a:spcPct val="80000"/>
              </a:lnSpc>
            </a:pPr>
            <a:br>
              <a:rPr lang="fr-FR" sz="2600" dirty="0">
                <a:latin typeface="Arial Narrow" panose="020B0606020202030204" pitchFamily="34" charset="0"/>
              </a:rPr>
            </a:br>
            <a:br>
              <a:rPr lang="fr-FR" sz="2600" dirty="0">
                <a:latin typeface="Arial Narrow" panose="020B0606020202030204" pitchFamily="34" charset="0"/>
              </a:rPr>
            </a:br>
            <a:r>
              <a:rPr lang="fr-FR" sz="2600" dirty="0">
                <a:latin typeface="Arial Narrow" panose="020B0606020202030204" pitchFamily="34" charset="0"/>
              </a:rPr>
              <a:t>Les méristèmes primaires sont aussi appelés des points végétatifs, ils sont apicaux (aux extrémités de la plante), ils peuvent être caulinaire ou racinaire, il existe chez tous les spermaphytes (chez tous les cormophytes) et ce sont eux qui produisent tous les tissus primaires.</a:t>
            </a:r>
          </a:p>
          <a:p>
            <a:pPr algn="just" eaLnBrk="1" hangingPunct="1">
              <a:lnSpc>
                <a:spcPct val="80000"/>
              </a:lnSpc>
            </a:pPr>
            <a:br>
              <a:rPr lang="fr-FR" sz="2600" dirty="0">
                <a:latin typeface="Arial Narrow" panose="020B0606020202030204" pitchFamily="34" charset="0"/>
              </a:rPr>
            </a:br>
            <a:br>
              <a:rPr lang="fr-FR" sz="2600" dirty="0">
                <a:latin typeface="Arial Narrow" panose="020B0606020202030204" pitchFamily="34" charset="0"/>
              </a:rPr>
            </a:br>
            <a:endParaRPr lang="fr-FR" sz="2600" dirty="0">
              <a:latin typeface="Arial Narrow" panose="020B0606020202030204" pitchFamily="34" charset="0"/>
            </a:endParaRPr>
          </a:p>
          <a:p>
            <a:endParaRPr lang="fr-FR" dirty="0"/>
          </a:p>
        </p:txBody>
      </p:sp>
      <p:pic>
        <p:nvPicPr>
          <p:cNvPr id="4" name="Image 3"/>
          <p:cNvPicPr>
            <a:picLocks noChangeAspect="1"/>
          </p:cNvPicPr>
          <p:nvPr/>
        </p:nvPicPr>
        <p:blipFill>
          <a:blip r:embed="rId2"/>
          <a:stretch>
            <a:fillRect/>
          </a:stretch>
        </p:blipFill>
        <p:spPr>
          <a:xfrm flipV="1">
            <a:off x="2051720" y="6450703"/>
            <a:ext cx="4030733" cy="6230432"/>
          </a:xfrm>
          <a:prstGeom prst="rect">
            <a:avLst/>
          </a:prstGeom>
        </p:spPr>
      </p:pic>
      <p:sp>
        <p:nvSpPr>
          <p:cNvPr id="5" name="Espace réservé du contenu 2"/>
          <p:cNvSpPr txBox="1">
            <a:spLocks/>
          </p:cNvSpPr>
          <p:nvPr/>
        </p:nvSpPr>
        <p:spPr bwMode="auto">
          <a:xfrm>
            <a:off x="251520" y="4293096"/>
            <a:ext cx="8229600" cy="182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lgn="just">
              <a:buNone/>
            </a:pPr>
            <a:r>
              <a:rPr lang="fr-FR" sz="2400" dirty="0">
                <a:latin typeface="Arial Narrow" panose="020B0606020202030204" pitchFamily="34" charset="0"/>
              </a:rPr>
              <a:t>La croissance des parties aériennes résulte de mitoses dans le méristème apical caulinaire ( MAC).</a:t>
            </a:r>
          </a:p>
        </p:txBody>
      </p:sp>
      <p:sp>
        <p:nvSpPr>
          <p:cNvPr id="6" name="ZoneTexte 2"/>
          <p:cNvSpPr txBox="1">
            <a:spLocks noChangeArrowheads="1"/>
          </p:cNvSpPr>
          <p:nvPr/>
        </p:nvSpPr>
        <p:spPr bwMode="auto">
          <a:xfrm>
            <a:off x="6978650" y="-26988"/>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393661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nodeType="clickEffect">
                                  <p:stCondLst>
                                    <p:cond delay="0"/>
                                  </p:stCondLst>
                                  <p:childTnLst>
                                    <p:animEffect transition="out" filter="blinds(horizontal)">
                                      <p:cBhvr>
                                        <p:cTn id="22" dur="500"/>
                                        <p:tgtEl>
                                          <p:spTgt spid="4"/>
                                        </p:tgtEl>
                                      </p:cBhvr>
                                    </p:animEffect>
                                    <p:set>
                                      <p:cBhvr>
                                        <p:cTn id="23" dur="1" fill="hold">
                                          <p:stCondLst>
                                            <p:cond delay="499"/>
                                          </p:stCondLst>
                                        </p:cTn>
                                        <p:tgtEl>
                                          <p:spTgt spid="4"/>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0" y="64571"/>
            <a:ext cx="9173621" cy="6741368"/>
          </a:xfrm>
          <a:prstGeom prst="rect">
            <a:avLst/>
          </a:prstGeom>
        </p:spPr>
      </p:pic>
      <p:sp>
        <p:nvSpPr>
          <p:cNvPr id="7" name="ZoneTexte 6"/>
          <p:cNvSpPr txBox="1"/>
          <p:nvPr/>
        </p:nvSpPr>
        <p:spPr>
          <a:xfrm>
            <a:off x="1403648" y="6381328"/>
            <a:ext cx="2448272" cy="369332"/>
          </a:xfrm>
          <a:prstGeom prst="rect">
            <a:avLst/>
          </a:prstGeom>
          <a:noFill/>
        </p:spPr>
        <p:txBody>
          <a:bodyPr wrap="square" rtlCol="0">
            <a:spAutoFit/>
          </a:bodyPr>
          <a:lstStyle/>
          <a:p>
            <a:r>
              <a:rPr lang="fr-FR" dirty="0"/>
              <a:t>MAC</a:t>
            </a:r>
          </a:p>
        </p:txBody>
      </p:sp>
      <p:sp>
        <p:nvSpPr>
          <p:cNvPr id="9" name="ZoneTexte 2"/>
          <p:cNvSpPr txBox="1">
            <a:spLocks noChangeArrowheads="1"/>
          </p:cNvSpPr>
          <p:nvPr/>
        </p:nvSpPr>
        <p:spPr bwMode="auto">
          <a:xfrm>
            <a:off x="6978650" y="-26988"/>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
        <p:nvSpPr>
          <p:cNvPr id="6" name="ZoneTexte 5"/>
          <p:cNvSpPr txBox="1"/>
          <p:nvPr/>
        </p:nvSpPr>
        <p:spPr>
          <a:xfrm>
            <a:off x="7380312" y="6237312"/>
            <a:ext cx="2448272" cy="369332"/>
          </a:xfrm>
          <a:prstGeom prst="rect">
            <a:avLst/>
          </a:prstGeom>
          <a:noFill/>
        </p:spPr>
        <p:txBody>
          <a:bodyPr wrap="square" rtlCol="0">
            <a:spAutoFit/>
          </a:bodyPr>
          <a:lstStyle/>
          <a:p>
            <a:r>
              <a:rPr lang="fr-FR"/>
              <a:t>MAR</a:t>
            </a:r>
            <a:endParaRPr lang="fr-FR" dirty="0"/>
          </a:p>
        </p:txBody>
      </p:sp>
    </p:spTree>
    <p:extLst>
      <p:ext uri="{BB962C8B-B14F-4D97-AF65-F5344CB8AC3E}">
        <p14:creationId xmlns:p14="http://schemas.microsoft.com/office/powerpoint/2010/main" val="4158190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2743200" y="685800"/>
            <a:ext cx="3644900" cy="5486400"/>
          </a:xfrm>
          <a:prstGeom prst="rect">
            <a:avLst/>
          </a:prstGeom>
        </p:spPr>
      </p:pic>
      <p:sp>
        <p:nvSpPr>
          <p:cNvPr id="5" name="ZoneTexte 2"/>
          <p:cNvSpPr txBox="1">
            <a:spLocks noChangeArrowheads="1"/>
          </p:cNvSpPr>
          <p:nvPr/>
        </p:nvSpPr>
        <p:spPr bwMode="auto">
          <a:xfrm>
            <a:off x="6978650" y="-26988"/>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
        <p:nvSpPr>
          <p:cNvPr id="6" name="ZoneTexte 5"/>
          <p:cNvSpPr txBox="1"/>
          <p:nvPr/>
        </p:nvSpPr>
        <p:spPr>
          <a:xfrm>
            <a:off x="899593" y="692696"/>
            <a:ext cx="6984776" cy="830997"/>
          </a:xfrm>
          <a:prstGeom prst="rect">
            <a:avLst/>
          </a:prstGeom>
          <a:noFill/>
        </p:spPr>
        <p:txBody>
          <a:bodyPr wrap="square" rtlCol="0">
            <a:spAutoFit/>
          </a:bodyPr>
          <a:lstStyle/>
          <a:p>
            <a:r>
              <a:rPr lang="fr-FR" sz="2400" dirty="0">
                <a:latin typeface="Arial Narrow" panose="020B0606020202030204" pitchFamily="34" charset="0"/>
              </a:rPr>
              <a:t>Il existe des </a:t>
            </a:r>
            <a:r>
              <a:rPr lang="fr-FR" sz="2400" dirty="0" err="1">
                <a:latin typeface="Arial Narrow" panose="020B0606020202030204" pitchFamily="34" charset="0"/>
              </a:rPr>
              <a:t>méristemes</a:t>
            </a:r>
            <a:r>
              <a:rPr lang="fr-FR" sz="2400" dirty="0">
                <a:latin typeface="Arial Narrow" panose="020B0606020202030204" pitchFamily="34" charset="0"/>
              </a:rPr>
              <a:t> intercalaires ( </a:t>
            </a:r>
            <a:r>
              <a:rPr lang="fr-FR" sz="2400" dirty="0" err="1">
                <a:latin typeface="Arial Narrow" panose="020B0606020202030204" pitchFamily="34" charset="0"/>
              </a:rPr>
              <a:t>ausexe</a:t>
            </a:r>
            <a:r>
              <a:rPr lang="fr-FR" sz="2400" dirty="0">
                <a:latin typeface="Arial Narrow" panose="020B0606020202030204" pitchFamily="34" charset="0"/>
              </a:rPr>
              <a:t>) exemple chez les bambous au niveau des entre-nœuds.</a:t>
            </a:r>
          </a:p>
        </p:txBody>
      </p:sp>
    </p:spTree>
    <p:extLst>
      <p:ext uri="{BB962C8B-B14F-4D97-AF65-F5344CB8AC3E}">
        <p14:creationId xmlns:p14="http://schemas.microsoft.com/office/powerpoint/2010/main" val="3607487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body" idx="1"/>
          </p:nvPr>
        </p:nvSpPr>
        <p:spPr>
          <a:xfrm>
            <a:off x="457200" y="1123406"/>
            <a:ext cx="8229600" cy="5473945"/>
          </a:xfrm>
        </p:spPr>
        <p:txBody>
          <a:bodyPr/>
          <a:lstStyle/>
          <a:p>
            <a:pPr algn="just" eaLnBrk="1" hangingPunct="1"/>
            <a:r>
              <a:rPr lang="fr-FR" sz="2400" b="1" dirty="0">
                <a:latin typeface="Arial Narrow" panose="020B0606020202030204" pitchFamily="34" charset="0"/>
              </a:rPr>
              <a:t>Les méristèmes secondaires </a:t>
            </a:r>
            <a:r>
              <a:rPr lang="fr-FR" sz="2400" dirty="0">
                <a:latin typeface="Arial Narrow" panose="020B0606020202030204" pitchFamily="34" charset="0"/>
              </a:rPr>
              <a:t>portent aussi le nom de cambium, il n'existe que chez les dicotylédones et </a:t>
            </a:r>
            <a:r>
              <a:rPr lang="fr-FR" sz="2400" dirty="0" err="1">
                <a:latin typeface="Arial Narrow" panose="020B0606020202030204" pitchFamily="34" charset="0"/>
              </a:rPr>
              <a:t>Eudicotyledone</a:t>
            </a:r>
            <a:r>
              <a:rPr lang="fr-FR" sz="2400" dirty="0">
                <a:latin typeface="Arial Narrow" panose="020B0606020202030204" pitchFamily="34" charset="0"/>
              </a:rPr>
              <a:t>, qui font partie des angiospermes et chez les gymnospermes (plantes pouvant atteindre de grand diamètre), ils sont responsables de la fabrication de tissus secondaire.</a:t>
            </a:r>
          </a:p>
          <a:p>
            <a:pPr marL="0" indent="0" algn="just" eaLnBrk="1" hangingPunct="1">
              <a:buNone/>
            </a:pPr>
            <a:br>
              <a:rPr lang="fr-FR" sz="2400" dirty="0">
                <a:latin typeface="Arial Narrow" panose="020B0606020202030204" pitchFamily="34" charset="0"/>
              </a:rPr>
            </a:br>
            <a:r>
              <a:rPr lang="fr-FR" sz="2400" dirty="0">
                <a:latin typeface="Arial Narrow" panose="020B0606020202030204" pitchFamily="34" charset="0"/>
              </a:rPr>
              <a:t>Les zones de différenciation se trouvent après les zones d'auxèse qui sont après les zones de </a:t>
            </a:r>
            <a:r>
              <a:rPr lang="fr-FR" sz="2400" dirty="0" err="1">
                <a:latin typeface="Arial Narrow" panose="020B0606020202030204" pitchFamily="34" charset="0"/>
              </a:rPr>
              <a:t>mérèse</a:t>
            </a:r>
            <a:r>
              <a:rPr lang="fr-FR" sz="2400" dirty="0">
                <a:latin typeface="Arial Narrow" panose="020B0606020202030204" pitchFamily="34" charset="0"/>
              </a:rPr>
              <a:t>. 	Les méristèmes secondaires assurent le développement en largeur en augmentant le diamètre des divers axes (tiges, racines). Ils sont à l'origine des tissus dits secondaires. </a:t>
            </a:r>
          </a:p>
          <a:p>
            <a:pPr algn="just" eaLnBrk="1" hangingPunct="1"/>
            <a:endParaRPr lang="fr-FR" sz="2800" dirty="0">
              <a:latin typeface="Arial" charset="0"/>
            </a:endParaRPr>
          </a:p>
        </p:txBody>
      </p:sp>
      <p:sp>
        <p:nvSpPr>
          <p:cNvPr id="40962" name="ZoneTexte 2"/>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6905223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7523">
                                            <p:txEl>
                                              <p:pRg st="0" end="0"/>
                                            </p:txEl>
                                          </p:spTgt>
                                        </p:tgtEl>
                                        <p:attrNameLst>
                                          <p:attrName>style.visibility</p:attrName>
                                        </p:attrNameLst>
                                      </p:cBhvr>
                                      <p:to>
                                        <p:strVal val="visible"/>
                                      </p:to>
                                    </p:set>
                                    <p:animEffect transition="in" filter="checkerboard(across)">
                                      <p:cBhvr>
                                        <p:cTn id="7" dur="500"/>
                                        <p:tgtEl>
                                          <p:spTgt spid="1075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7523">
                                            <p:txEl>
                                              <p:pRg st="1" end="1"/>
                                            </p:txEl>
                                          </p:spTgt>
                                        </p:tgtEl>
                                        <p:attrNameLst>
                                          <p:attrName>style.visibility</p:attrName>
                                        </p:attrNameLst>
                                      </p:cBhvr>
                                      <p:to>
                                        <p:strVal val="visible"/>
                                      </p:to>
                                    </p:set>
                                    <p:animEffect transition="in" filter="checkerboard(across)">
                                      <p:cBhvr>
                                        <p:cTn id="12" dur="500"/>
                                        <p:tgtEl>
                                          <p:spTgt spid="1075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67583" y="332656"/>
            <a:ext cx="9100741" cy="6264696"/>
          </a:xfrm>
          <a:prstGeom prst="rect">
            <a:avLst/>
          </a:prstGeom>
        </p:spPr>
      </p:pic>
    </p:spTree>
    <p:extLst>
      <p:ext uri="{BB962C8B-B14F-4D97-AF65-F5344CB8AC3E}">
        <p14:creationId xmlns:p14="http://schemas.microsoft.com/office/powerpoint/2010/main" val="344819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3"/>
          <p:cNvSpPr>
            <a:spLocks noGrp="1" noChangeArrowheads="1"/>
          </p:cNvSpPr>
          <p:nvPr>
            <p:ph type="body" idx="1"/>
          </p:nvPr>
        </p:nvSpPr>
        <p:spPr>
          <a:xfrm>
            <a:off x="457200" y="1314994"/>
            <a:ext cx="8229600" cy="5399412"/>
          </a:xfrm>
        </p:spPr>
        <p:txBody>
          <a:bodyPr>
            <a:normAutofit/>
          </a:bodyPr>
          <a:lstStyle/>
          <a:p>
            <a:pPr algn="just" eaLnBrk="1" hangingPunct="1">
              <a:buNone/>
            </a:pPr>
            <a:r>
              <a:rPr lang="fr-FR" sz="2400" dirty="0">
                <a:latin typeface="Arial Narrow" panose="020B0606020202030204" pitchFamily="34" charset="0"/>
              </a:rPr>
              <a:t>La croissance en épaisseur des organes végétaux est assurée par les méristèmes secondaires (formation d’un </a:t>
            </a:r>
            <a:r>
              <a:rPr lang="fr-FR" sz="2400" b="1" dirty="0">
                <a:latin typeface="Arial Narrow" panose="020B0606020202030204" pitchFamily="34" charset="0"/>
              </a:rPr>
              <a:t>cambium </a:t>
            </a:r>
            <a:r>
              <a:rPr lang="fr-FR" sz="2400" dirty="0">
                <a:latin typeface="Arial Narrow" panose="020B0606020202030204" pitchFamily="34" charset="0"/>
              </a:rPr>
              <a:t>et différenciation de structures conductrices secondaires). Ces formations, peu importantes chez les plantes herbacées annuelles, deviennent prépondérantes chez les plantes ligneuses pérennes (arbres notamment). </a:t>
            </a:r>
          </a:p>
          <a:p>
            <a:pPr algn="just" eaLnBrk="1" hangingPunct="1">
              <a:buNone/>
            </a:pPr>
            <a:endParaRPr lang="fr-FR" sz="2400" dirty="0">
              <a:latin typeface="Arial Narrow" panose="020B0606020202030204" pitchFamily="34" charset="0"/>
            </a:endParaRPr>
          </a:p>
          <a:p>
            <a:pPr algn="just" eaLnBrk="1" hangingPunct="1"/>
            <a:r>
              <a:rPr lang="fr-FR" sz="2400" dirty="0">
                <a:latin typeface="Arial Narrow" panose="020B0606020202030204" pitchFamily="34" charset="0"/>
              </a:rPr>
              <a:t>Une plante a un développement indéfini, mais la capacité d</a:t>
            </a:r>
            <a:r>
              <a:rPr lang="ja-JP" altLang="fr-FR" sz="2400" dirty="0">
                <a:latin typeface="Arial Narrow" panose="020B0606020202030204" pitchFamily="34" charset="0"/>
              </a:rPr>
              <a:t>’</a:t>
            </a:r>
            <a:r>
              <a:rPr lang="fr-FR" altLang="ja-JP" sz="2400" dirty="0">
                <a:latin typeface="Arial Narrow" panose="020B0606020202030204" pitchFamily="34" charset="0"/>
              </a:rPr>
              <a:t>extension des organes est éphémère et leur grandissement se produit selon des gradients plus ou moins nets et diversement orientés suivant les organes et les espèces.</a:t>
            </a:r>
            <a:endParaRPr lang="fr-FR" sz="2400" dirty="0">
              <a:latin typeface="Arial Narrow" panose="020B0606020202030204" pitchFamily="34" charset="0"/>
            </a:endParaRPr>
          </a:p>
        </p:txBody>
      </p:sp>
      <p:sp>
        <p:nvSpPr>
          <p:cNvPr id="89090" name="ZoneTexte 2"/>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42328461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84771" y="692696"/>
            <a:ext cx="9079676" cy="5544616"/>
          </a:xfrm>
          <a:prstGeom prst="rect">
            <a:avLst/>
          </a:prstGeom>
        </p:spPr>
      </p:pic>
    </p:spTree>
    <p:extLst>
      <p:ext uri="{BB962C8B-B14F-4D97-AF65-F5344CB8AC3E}">
        <p14:creationId xmlns:p14="http://schemas.microsoft.com/office/powerpoint/2010/main" val="1823104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539750" y="620713"/>
            <a:ext cx="8229600" cy="5688012"/>
          </a:xfrm>
        </p:spPr>
        <p:txBody>
          <a:bodyPr/>
          <a:lstStyle/>
          <a:p>
            <a:pPr algn="just" eaLnBrk="1" hangingPunct="1">
              <a:lnSpc>
                <a:spcPct val="80000"/>
              </a:lnSpc>
              <a:defRPr/>
            </a:pPr>
            <a:r>
              <a:rPr lang="fr-FR" dirty="0">
                <a:solidFill>
                  <a:srgbClr val="3366FF"/>
                </a:solidFill>
                <a:latin typeface="Arial" charset="0"/>
              </a:rPr>
              <a:t> </a:t>
            </a:r>
            <a:r>
              <a:rPr lang="fr-FR" b="1" dirty="0">
                <a:solidFill>
                  <a:srgbClr val="3366FF"/>
                </a:solidFill>
                <a:latin typeface="Arial" charset="0"/>
              </a:rPr>
              <a:t>B/ Le développement</a:t>
            </a:r>
            <a:r>
              <a:rPr lang="fr-FR" sz="2400" dirty="0">
                <a:solidFill>
                  <a:srgbClr val="3366FF"/>
                </a:solidFill>
                <a:latin typeface="Arial" charset="0"/>
              </a:rPr>
              <a:t> </a:t>
            </a:r>
            <a:r>
              <a:rPr lang="fr-FR" sz="2400" dirty="0">
                <a:latin typeface="Arial Narrow" panose="020B0606020202030204" pitchFamily="34" charset="0"/>
              </a:rPr>
              <a:t>(en physiologie végétale) étudie toutes les modifications qualitatives chez une plante (de la fécondation à la mort).</a:t>
            </a:r>
          </a:p>
          <a:p>
            <a:pPr lvl="1" algn="just" eaLnBrk="1" hangingPunct="1">
              <a:lnSpc>
                <a:spcPct val="80000"/>
              </a:lnSpc>
              <a:buFontTx/>
              <a:buNone/>
              <a:defRPr/>
            </a:pPr>
            <a:endParaRPr lang="fr-FR" sz="2400" dirty="0">
              <a:latin typeface="Arial Narrow" panose="020B0606020202030204" pitchFamily="34" charset="0"/>
            </a:endParaRPr>
          </a:p>
          <a:p>
            <a:pPr lvl="1" algn="just" eaLnBrk="1" hangingPunct="1">
              <a:lnSpc>
                <a:spcPct val="80000"/>
              </a:lnSpc>
              <a:defRPr/>
            </a:pPr>
            <a:r>
              <a:rPr lang="fr-FR" sz="2400" dirty="0">
                <a:latin typeface="Arial Narrow" panose="020B0606020202030204" pitchFamily="34" charset="0"/>
              </a:rPr>
              <a:t>On parle de différenciation quand la part prise par les modifications qualitatives vont prédominer : c</a:t>
            </a:r>
            <a:r>
              <a:rPr lang="ja-JP" altLang="fr-FR" sz="2400" dirty="0">
                <a:latin typeface="Arial Narrow" panose="020B0606020202030204" pitchFamily="34" charset="0"/>
              </a:rPr>
              <a:t>’</a:t>
            </a:r>
            <a:r>
              <a:rPr lang="fr-FR" altLang="ja-JP" sz="2400" dirty="0">
                <a:latin typeface="Arial Narrow" panose="020B0606020202030204" pitchFamily="34" charset="0"/>
              </a:rPr>
              <a:t>est l</a:t>
            </a:r>
            <a:r>
              <a:rPr lang="ja-JP" altLang="fr-FR" sz="2400" dirty="0">
                <a:latin typeface="Arial Narrow" panose="020B0606020202030204" pitchFamily="34" charset="0"/>
              </a:rPr>
              <a:t>’</a:t>
            </a:r>
            <a:r>
              <a:rPr lang="fr-FR" altLang="ja-JP" sz="2400" dirty="0">
                <a:latin typeface="Arial Narrow" panose="020B0606020202030204" pitchFamily="34" charset="0"/>
              </a:rPr>
              <a:t>acquisition de propriétés morphologiques et fonctionnelles.</a:t>
            </a:r>
          </a:p>
          <a:p>
            <a:pPr lvl="1" algn="just" eaLnBrk="1" hangingPunct="1">
              <a:lnSpc>
                <a:spcPct val="80000"/>
              </a:lnSpc>
              <a:defRPr/>
            </a:pPr>
            <a:endParaRPr lang="fr-FR" altLang="ja-JP" sz="2400" dirty="0">
              <a:latin typeface="Arial Narrow" panose="020B0606020202030204" pitchFamily="34" charset="0"/>
            </a:endParaRPr>
          </a:p>
          <a:p>
            <a:pPr lvl="1" algn="just" eaLnBrk="1" hangingPunct="1">
              <a:lnSpc>
                <a:spcPct val="80000"/>
              </a:lnSpc>
              <a:defRPr/>
            </a:pPr>
            <a:r>
              <a:rPr lang="fr-FR" sz="2400" dirty="0">
                <a:latin typeface="Arial Narrow" panose="020B0606020202030204" pitchFamily="34" charset="0"/>
              </a:rPr>
              <a:t>Le développement comprend toutes les transformations dans l'organisme (apparition de nouveaux organes : nouvelle branche,...) végétatif.</a:t>
            </a:r>
          </a:p>
          <a:p>
            <a:pPr marL="457200" lvl="1" indent="0" algn="just" eaLnBrk="1" hangingPunct="1">
              <a:lnSpc>
                <a:spcPct val="80000"/>
              </a:lnSpc>
              <a:buFontTx/>
              <a:buNone/>
              <a:defRPr/>
            </a:pPr>
            <a:br>
              <a:rPr lang="fr-FR" sz="2400" dirty="0">
                <a:latin typeface="Arial Narrow" panose="020B0606020202030204" pitchFamily="34" charset="0"/>
              </a:rPr>
            </a:br>
            <a:r>
              <a:rPr lang="fr-FR" sz="2400" b="1" dirty="0">
                <a:latin typeface="Arial Narrow" panose="020B0606020202030204" pitchFamily="34" charset="0"/>
              </a:rPr>
              <a:t>Il y a trois phénomènes </a:t>
            </a:r>
            <a:r>
              <a:rPr lang="fr-FR" sz="2400" dirty="0">
                <a:latin typeface="Arial Narrow" panose="020B0606020202030204" pitchFamily="34" charset="0"/>
              </a:rPr>
              <a:t>dans le développement végétatif : </a:t>
            </a:r>
          </a:p>
          <a:p>
            <a:pPr marL="457200" lvl="1" indent="0" algn="just" eaLnBrk="1" hangingPunct="1">
              <a:lnSpc>
                <a:spcPct val="80000"/>
              </a:lnSpc>
              <a:buFontTx/>
              <a:buNone/>
              <a:defRPr/>
            </a:pPr>
            <a:endParaRPr lang="fr-FR" sz="2400" dirty="0">
              <a:latin typeface="Arial Narrow" panose="020B0606020202030204" pitchFamily="34" charset="0"/>
            </a:endParaRPr>
          </a:p>
          <a:p>
            <a:pPr lvl="2" algn="just">
              <a:lnSpc>
                <a:spcPct val="80000"/>
              </a:lnSpc>
              <a:defRPr/>
            </a:pPr>
            <a:r>
              <a:rPr lang="fr-FR" altLang="ja-JP" sz="2000" dirty="0" err="1">
                <a:latin typeface="Arial Narrow" panose="020B0606020202030204" pitchFamily="34" charset="0"/>
              </a:rPr>
              <a:t>Mérése</a:t>
            </a:r>
            <a:r>
              <a:rPr lang="fr-FR" altLang="ja-JP" sz="2000" dirty="0">
                <a:latin typeface="Arial Narrow" panose="020B0606020202030204" pitchFamily="34" charset="0"/>
              </a:rPr>
              <a:t> </a:t>
            </a:r>
          </a:p>
          <a:p>
            <a:pPr lvl="2" algn="just">
              <a:lnSpc>
                <a:spcPct val="80000"/>
              </a:lnSpc>
              <a:defRPr/>
            </a:pPr>
            <a:r>
              <a:rPr lang="fr-FR" altLang="ja-JP" sz="2000" dirty="0">
                <a:latin typeface="Arial Narrow" panose="020B0606020202030204" pitchFamily="34" charset="0"/>
              </a:rPr>
              <a:t>Auxèse</a:t>
            </a:r>
          </a:p>
          <a:p>
            <a:pPr lvl="2" algn="just">
              <a:lnSpc>
                <a:spcPct val="80000"/>
              </a:lnSpc>
              <a:defRPr/>
            </a:pPr>
            <a:r>
              <a:rPr lang="fr-FR" altLang="ja-JP" sz="2000" dirty="0">
                <a:latin typeface="Arial Narrow" panose="020B0606020202030204" pitchFamily="34" charset="0"/>
              </a:rPr>
              <a:t>Différenciation  </a:t>
            </a:r>
          </a:p>
          <a:p>
            <a:pPr marL="914400" lvl="2" indent="0" algn="just">
              <a:lnSpc>
                <a:spcPct val="80000"/>
              </a:lnSpc>
              <a:buNone/>
              <a:defRPr/>
            </a:pPr>
            <a:endParaRPr lang="fr-FR" altLang="ja-JP" sz="2000" dirty="0">
              <a:latin typeface="Arial Narrow" panose="020B0606020202030204" pitchFamily="34" charset="0"/>
            </a:endParaRPr>
          </a:p>
          <a:p>
            <a:pPr lvl="1" algn="just" eaLnBrk="1" hangingPunct="1">
              <a:lnSpc>
                <a:spcPct val="80000"/>
              </a:lnSpc>
              <a:defRPr/>
            </a:pPr>
            <a:endParaRPr lang="fr-FR" sz="2400" dirty="0">
              <a:latin typeface="Arial" charset="0"/>
            </a:endParaRPr>
          </a:p>
        </p:txBody>
      </p:sp>
      <p:sp>
        <p:nvSpPr>
          <p:cNvPr id="41986" name="ZoneTexte 4"/>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415087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checkerboard(across)">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243">
                                            <p:txEl>
                                              <p:pRg st="2" end="2"/>
                                            </p:txEl>
                                          </p:spTgt>
                                        </p:tgtEl>
                                        <p:attrNameLst>
                                          <p:attrName>style.visibility</p:attrName>
                                        </p:attrNameLst>
                                      </p:cBhvr>
                                      <p:to>
                                        <p:strVal val="visible"/>
                                      </p:to>
                                    </p:set>
                                    <p:animEffect transition="in" filter="checkerboard(across)">
                                      <p:cBhvr>
                                        <p:cTn id="12" dur="500"/>
                                        <p:tgtEl>
                                          <p:spTgt spid="102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animEffect transition="in" filter="checkerboard(across)">
                                      <p:cBhvr>
                                        <p:cTn id="17" dur="500"/>
                                        <p:tgtEl>
                                          <p:spTgt spid="10243">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0243">
                                            <p:txEl>
                                              <p:pRg st="5" end="5"/>
                                            </p:txEl>
                                          </p:spTgt>
                                        </p:tgtEl>
                                        <p:attrNameLst>
                                          <p:attrName>style.visibility</p:attrName>
                                        </p:attrNameLst>
                                      </p:cBhvr>
                                      <p:to>
                                        <p:strVal val="visible"/>
                                      </p:to>
                                    </p:set>
                                    <p:animEffect transition="in" filter="checkerboard(across)">
                                      <p:cBhvr>
                                        <p:cTn id="22" dur="500"/>
                                        <p:tgtEl>
                                          <p:spTgt spid="1024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animEffect transition="in" filter="checkerboard(across)">
                                      <p:cBhvr>
                                        <p:cTn id="27" dur="500"/>
                                        <p:tgtEl>
                                          <p:spTgt spid="1024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10243">
                                            <p:txEl>
                                              <p:pRg st="8" end="8"/>
                                            </p:txEl>
                                          </p:spTgt>
                                        </p:tgtEl>
                                        <p:attrNameLst>
                                          <p:attrName>style.visibility</p:attrName>
                                        </p:attrNameLst>
                                      </p:cBhvr>
                                      <p:to>
                                        <p:strVal val="visible"/>
                                      </p:to>
                                    </p:set>
                                    <p:animEffect transition="in" filter="checkerboard(across)">
                                      <p:cBhvr>
                                        <p:cTn id="32" dur="500"/>
                                        <p:tgtEl>
                                          <p:spTgt spid="1024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10243">
                                            <p:txEl>
                                              <p:pRg st="9" end="9"/>
                                            </p:txEl>
                                          </p:spTgt>
                                        </p:tgtEl>
                                        <p:attrNameLst>
                                          <p:attrName>style.visibility</p:attrName>
                                        </p:attrNameLst>
                                      </p:cBhvr>
                                      <p:to>
                                        <p:strVal val="visible"/>
                                      </p:to>
                                    </p:set>
                                    <p:animEffect transition="in" filter="checkerboard(across)">
                                      <p:cBhvr>
                                        <p:cTn id="37" dur="500"/>
                                        <p:tgtEl>
                                          <p:spTgt spid="1024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1" name="Rectangle 3"/>
          <p:cNvSpPr>
            <a:spLocks noGrp="1" noChangeArrowheads="1"/>
          </p:cNvSpPr>
          <p:nvPr>
            <p:ph type="body" idx="1"/>
          </p:nvPr>
        </p:nvSpPr>
        <p:spPr>
          <a:xfrm>
            <a:off x="457200" y="549275"/>
            <a:ext cx="8229600" cy="5975350"/>
          </a:xfrm>
        </p:spPr>
        <p:txBody>
          <a:bodyPr/>
          <a:lstStyle/>
          <a:p>
            <a:pPr eaLnBrk="1" hangingPunct="1">
              <a:lnSpc>
                <a:spcPct val="80000"/>
              </a:lnSpc>
              <a:buFontTx/>
              <a:buNone/>
            </a:pPr>
            <a:endParaRPr lang="fr-FR" sz="2400" dirty="0">
              <a:latin typeface="Arial" charset="0"/>
            </a:endParaRPr>
          </a:p>
          <a:p>
            <a:pPr algn="just" eaLnBrk="1" hangingPunct="1">
              <a:lnSpc>
                <a:spcPct val="80000"/>
              </a:lnSpc>
            </a:pPr>
            <a:r>
              <a:rPr lang="fr-FR" sz="2400" b="1" dirty="0">
                <a:latin typeface="Arial Narrow" panose="020B0606020202030204" pitchFamily="34" charset="0"/>
              </a:rPr>
              <a:t>La </a:t>
            </a:r>
            <a:r>
              <a:rPr lang="fr-FR" sz="2400" b="1" dirty="0" err="1">
                <a:latin typeface="Arial Narrow" panose="020B0606020202030204" pitchFamily="34" charset="0"/>
              </a:rPr>
              <a:t>mérése</a:t>
            </a:r>
            <a:r>
              <a:rPr lang="fr-FR" sz="2400" dirty="0">
                <a:latin typeface="Arial Narrow" panose="020B0606020202030204" pitchFamily="34" charset="0"/>
              </a:rPr>
              <a:t> : augmentation des cellules de la plante : multiplication cellulaire par mitose. Ce phénomène intervient que dans les méristèmes.</a:t>
            </a:r>
          </a:p>
          <a:p>
            <a:pPr algn="just" eaLnBrk="1" hangingPunct="1">
              <a:lnSpc>
                <a:spcPct val="80000"/>
              </a:lnSpc>
            </a:pPr>
            <a:r>
              <a:rPr lang="fr-FR" sz="2400" b="1" dirty="0">
                <a:latin typeface="Arial Narrow" panose="020B0606020202030204" pitchFamily="34" charset="0"/>
              </a:rPr>
              <a:t>L</a:t>
            </a:r>
            <a:r>
              <a:rPr lang="ja-JP" altLang="fr-FR" sz="2400" b="1" dirty="0">
                <a:latin typeface="Arial Narrow" panose="020B0606020202030204" pitchFamily="34" charset="0"/>
              </a:rPr>
              <a:t>’</a:t>
            </a:r>
            <a:r>
              <a:rPr lang="fr-FR" altLang="ja-JP" sz="2400" b="1" dirty="0">
                <a:latin typeface="Arial Narrow" panose="020B0606020202030204" pitchFamily="34" charset="0"/>
              </a:rPr>
              <a:t>auxèse </a:t>
            </a:r>
            <a:r>
              <a:rPr lang="fr-FR" altLang="ja-JP" sz="2400" dirty="0">
                <a:latin typeface="Arial Narrow" panose="020B0606020202030204" pitchFamily="34" charset="0"/>
              </a:rPr>
              <a:t>: phénomène qui suit la </a:t>
            </a:r>
            <a:r>
              <a:rPr lang="fr-FR" altLang="ja-JP" sz="2400" dirty="0" err="1">
                <a:latin typeface="Arial Narrow" panose="020B0606020202030204" pitchFamily="34" charset="0"/>
              </a:rPr>
              <a:t>mérèse</a:t>
            </a:r>
            <a:r>
              <a:rPr lang="fr-FR" altLang="ja-JP" sz="2400" dirty="0">
                <a:latin typeface="Arial Narrow" panose="020B0606020202030204" pitchFamily="34" charset="0"/>
              </a:rPr>
              <a:t> est l'agrandissement de la cellule.</a:t>
            </a:r>
          </a:p>
          <a:p>
            <a:pPr algn="just" eaLnBrk="1" hangingPunct="1">
              <a:lnSpc>
                <a:spcPct val="80000"/>
              </a:lnSpc>
            </a:pPr>
            <a:r>
              <a:rPr lang="fr-FR" altLang="ja-JP" sz="2400" b="1" dirty="0">
                <a:latin typeface="Arial Narrow" panose="020B0606020202030204" pitchFamily="34" charset="0"/>
              </a:rPr>
              <a:t>La différenciation</a:t>
            </a:r>
            <a:r>
              <a:rPr lang="fr-FR" altLang="ja-JP" sz="2400" dirty="0">
                <a:latin typeface="Arial Narrow" panose="020B0606020202030204" pitchFamily="34" charset="0"/>
              </a:rPr>
              <a:t> : c'est la spécialisation cellulaire : spécialisation dans les organes de réserves, dans la photosynthèse, soutien... </a:t>
            </a:r>
            <a:endParaRPr lang="fr-FR" sz="2400" dirty="0">
              <a:latin typeface="Arial Narrow" panose="020B0606020202030204" pitchFamily="34" charset="0"/>
            </a:endParaRPr>
          </a:p>
        </p:txBody>
      </p:sp>
      <p:sp>
        <p:nvSpPr>
          <p:cNvPr id="43010" name="ZoneTexte 4"/>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
        <p:nvSpPr>
          <p:cNvPr id="2" name="ZoneTexte 1"/>
          <p:cNvSpPr txBox="1"/>
          <p:nvPr/>
        </p:nvSpPr>
        <p:spPr>
          <a:xfrm>
            <a:off x="415324" y="3501008"/>
            <a:ext cx="8712968" cy="2677656"/>
          </a:xfrm>
          <a:prstGeom prst="rect">
            <a:avLst/>
          </a:prstGeom>
          <a:noFill/>
        </p:spPr>
        <p:txBody>
          <a:bodyPr wrap="square" rtlCol="0">
            <a:spAutoFit/>
          </a:bodyPr>
          <a:lstStyle/>
          <a:p>
            <a:r>
              <a:rPr lang="fr-FR" sz="2400" b="1" dirty="0">
                <a:latin typeface="Arial Narrow" panose="020B0606020202030204" pitchFamily="34" charset="0"/>
              </a:rPr>
              <a:t>Les phytohormones stimulatrices du développement et de la croissance végétale : </a:t>
            </a:r>
          </a:p>
          <a:p>
            <a:pPr marL="342900" indent="-342900">
              <a:buFont typeface="Arial"/>
              <a:buChar char="•"/>
            </a:pPr>
            <a:r>
              <a:rPr lang="fr-FR" sz="2400" dirty="0">
                <a:latin typeface="Arial Narrow" panose="020B0606020202030204" pitchFamily="34" charset="0"/>
              </a:rPr>
              <a:t>auxines : AIA </a:t>
            </a:r>
          </a:p>
          <a:p>
            <a:pPr marL="342900" indent="-342900">
              <a:buFont typeface="Arial"/>
              <a:buChar char="•"/>
            </a:pPr>
            <a:r>
              <a:rPr lang="fr-FR" sz="2400" dirty="0" err="1">
                <a:latin typeface="Arial Narrow" panose="020B0606020202030204" pitchFamily="34" charset="0"/>
              </a:rPr>
              <a:t>cytokinines</a:t>
            </a:r>
            <a:r>
              <a:rPr lang="fr-FR" sz="2400" dirty="0">
                <a:latin typeface="Arial Narrow" panose="020B0606020202030204" pitchFamily="34" charset="0"/>
              </a:rPr>
              <a:t> : </a:t>
            </a:r>
            <a:r>
              <a:rPr lang="fr-FR" sz="2400" dirty="0" err="1">
                <a:latin typeface="Arial Narrow" panose="020B0606020202030204" pitchFamily="34" charset="0"/>
              </a:rPr>
              <a:t>zéatine</a:t>
            </a:r>
            <a:r>
              <a:rPr lang="fr-FR" sz="2400" dirty="0">
                <a:latin typeface="Arial Narrow" panose="020B0606020202030204" pitchFamily="34" charset="0"/>
              </a:rPr>
              <a:t> </a:t>
            </a:r>
          </a:p>
          <a:p>
            <a:pPr marL="342900" indent="-342900">
              <a:buFont typeface="Arial"/>
              <a:buChar char="•"/>
            </a:pPr>
            <a:r>
              <a:rPr lang="fr-FR" sz="2400" dirty="0">
                <a:latin typeface="Arial Narrow" panose="020B0606020202030204" pitchFamily="34" charset="0"/>
              </a:rPr>
              <a:t>gibbérellines : GA3</a:t>
            </a:r>
          </a:p>
          <a:p>
            <a:pPr marL="342900" indent="-342900">
              <a:buFont typeface="Arial"/>
              <a:buChar char="•"/>
            </a:pPr>
            <a:r>
              <a:rPr lang="fr-FR" sz="2400" dirty="0" err="1">
                <a:latin typeface="Arial Narrow" panose="020B0606020202030204" pitchFamily="34" charset="0"/>
              </a:rPr>
              <a:t>brassinostéroides</a:t>
            </a:r>
            <a:endParaRPr lang="fr-FR" sz="2400" dirty="0">
              <a:latin typeface="Arial Narrow" panose="020B0606020202030204" pitchFamily="34" charset="0"/>
            </a:endParaRPr>
          </a:p>
          <a:p>
            <a:r>
              <a:rPr lang="fr-FR" sz="2400" b="1" dirty="0">
                <a:latin typeface="Arial Narrow" panose="020B0606020202030204" pitchFamily="34" charset="0"/>
              </a:rPr>
              <a:t>Autres rôles </a:t>
            </a:r>
            <a:r>
              <a:rPr lang="fr-FR" sz="2400" dirty="0">
                <a:latin typeface="Arial Narrow" panose="020B0606020202030204" pitchFamily="34" charset="0"/>
              </a:rPr>
              <a:t>: acide </a:t>
            </a:r>
            <a:r>
              <a:rPr lang="fr-FR" sz="2400" dirty="0" err="1">
                <a:latin typeface="Arial Narrow" panose="020B0606020202030204" pitchFamily="34" charset="0"/>
              </a:rPr>
              <a:t>abscissique</a:t>
            </a:r>
            <a:r>
              <a:rPr lang="fr-FR" sz="2400" dirty="0">
                <a:latin typeface="Arial Narrow" panose="020B0606020202030204" pitchFamily="34" charset="0"/>
              </a:rPr>
              <a:t> et éthylène.</a:t>
            </a:r>
          </a:p>
        </p:txBody>
      </p:sp>
    </p:spTree>
    <p:extLst>
      <p:ext uri="{BB962C8B-B14F-4D97-AF65-F5344CB8AC3E}">
        <p14:creationId xmlns:p14="http://schemas.microsoft.com/office/powerpoint/2010/main" val="32187417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4451">
                                            <p:txEl>
                                              <p:pRg st="1" end="1"/>
                                            </p:txEl>
                                          </p:spTgt>
                                        </p:tgtEl>
                                        <p:attrNameLst>
                                          <p:attrName>style.visibility</p:attrName>
                                        </p:attrNameLst>
                                      </p:cBhvr>
                                      <p:to>
                                        <p:strVal val="visible"/>
                                      </p:to>
                                    </p:set>
                                    <p:animEffect transition="in" filter="checkerboard(across)">
                                      <p:cBhvr>
                                        <p:cTn id="7" dur="500"/>
                                        <p:tgtEl>
                                          <p:spTgt spid="1044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4451">
                                            <p:txEl>
                                              <p:pRg st="2" end="2"/>
                                            </p:txEl>
                                          </p:spTgt>
                                        </p:tgtEl>
                                        <p:attrNameLst>
                                          <p:attrName>style.visibility</p:attrName>
                                        </p:attrNameLst>
                                      </p:cBhvr>
                                      <p:to>
                                        <p:strVal val="visible"/>
                                      </p:to>
                                    </p:set>
                                    <p:animEffect transition="in" filter="checkerboard(across)">
                                      <p:cBhvr>
                                        <p:cTn id="12" dur="500"/>
                                        <p:tgtEl>
                                          <p:spTgt spid="1044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04451">
                                            <p:txEl>
                                              <p:pRg st="3" end="3"/>
                                            </p:txEl>
                                          </p:spTgt>
                                        </p:tgtEl>
                                        <p:attrNameLst>
                                          <p:attrName>style.visibility</p:attrName>
                                        </p:attrNameLst>
                                      </p:cBhvr>
                                      <p:to>
                                        <p:strVal val="visible"/>
                                      </p:to>
                                    </p:set>
                                    <p:animEffect transition="in" filter="checkerboard(across)">
                                      <p:cBhvr>
                                        <p:cTn id="17" dur="500"/>
                                        <p:tgtEl>
                                          <p:spTgt spid="1044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ext Box 2"/>
          <p:cNvSpPr txBox="1">
            <a:spLocks noChangeArrowheads="1"/>
          </p:cNvSpPr>
          <p:nvPr/>
        </p:nvSpPr>
        <p:spPr bwMode="auto">
          <a:xfrm>
            <a:off x="385763" y="528638"/>
            <a:ext cx="8758237" cy="6461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600" b="1" u="sng" dirty="0">
                <a:solidFill>
                  <a:srgbClr val="0000FF"/>
                </a:solidFill>
              </a:rPr>
              <a:t>2. Organisation des tissus végétaux</a:t>
            </a:r>
          </a:p>
        </p:txBody>
      </p:sp>
      <p:sp>
        <p:nvSpPr>
          <p:cNvPr id="92162" name="Text Box 3"/>
          <p:cNvSpPr txBox="1">
            <a:spLocks noChangeArrowheads="1"/>
          </p:cNvSpPr>
          <p:nvPr/>
        </p:nvSpPr>
        <p:spPr bwMode="auto">
          <a:xfrm>
            <a:off x="1249363" y="2405063"/>
            <a:ext cx="4144962" cy="21002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AutoNum type="arabicPeriod"/>
            </a:pPr>
            <a:r>
              <a:rPr lang="fr-CA" b="1" dirty="0"/>
              <a:t>Méristèmes</a:t>
            </a:r>
          </a:p>
          <a:p>
            <a:pPr eaLnBrk="1" hangingPunct="1">
              <a:spcBef>
                <a:spcPct val="50000"/>
              </a:spcBef>
              <a:buFontTx/>
              <a:buAutoNum type="arabicPeriod"/>
            </a:pPr>
            <a:r>
              <a:rPr lang="fr-CA" b="1" dirty="0"/>
              <a:t>Tissus fondamentaux</a:t>
            </a:r>
          </a:p>
          <a:p>
            <a:pPr eaLnBrk="1" hangingPunct="1">
              <a:spcBef>
                <a:spcPct val="50000"/>
              </a:spcBef>
              <a:buFontTx/>
              <a:buAutoNum type="arabicPeriod"/>
            </a:pPr>
            <a:r>
              <a:rPr lang="fr-CA" b="1" dirty="0"/>
              <a:t>Tissus de revêtement</a:t>
            </a:r>
          </a:p>
          <a:p>
            <a:pPr eaLnBrk="1" hangingPunct="1">
              <a:spcBef>
                <a:spcPct val="50000"/>
              </a:spcBef>
              <a:buFontTx/>
              <a:buAutoNum type="arabicPeriod"/>
            </a:pPr>
            <a:r>
              <a:rPr lang="fr-CA" b="1" dirty="0"/>
              <a:t>Tissus vasculaires</a:t>
            </a:r>
          </a:p>
        </p:txBody>
      </p:sp>
      <p:sp>
        <p:nvSpPr>
          <p:cNvPr id="92163" name="Text Box 4"/>
          <p:cNvSpPr txBox="1">
            <a:spLocks noChangeArrowheads="1"/>
          </p:cNvSpPr>
          <p:nvPr/>
        </p:nvSpPr>
        <p:spPr bwMode="auto">
          <a:xfrm>
            <a:off x="457200" y="1378744"/>
            <a:ext cx="7837488"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dirty="0">
                <a:latin typeface="Arial Narrow" panose="020B0606020202030204" pitchFamily="34" charset="0"/>
              </a:rPr>
              <a:t>Les plantes sont organisées en quatre </a:t>
            </a:r>
            <a:r>
              <a:rPr lang="fr-CA" b="1" dirty="0">
                <a:latin typeface="Arial Narrow" panose="020B0606020202030204" pitchFamily="34" charset="0"/>
              </a:rPr>
              <a:t>grands types de tissus</a:t>
            </a:r>
            <a:r>
              <a:rPr lang="fr-CA" dirty="0">
                <a:latin typeface="Arial Narrow" panose="020B0606020202030204" pitchFamily="34" charset="0"/>
              </a:rPr>
              <a:t> (</a:t>
            </a:r>
            <a:r>
              <a:rPr lang="fr-CA" i="1" dirty="0">
                <a:latin typeface="Arial Narrow" panose="020B0606020202030204" pitchFamily="34" charset="0"/>
              </a:rPr>
              <a:t>tissue </a:t>
            </a:r>
            <a:r>
              <a:rPr lang="fr-CA" i="1" dirty="0" err="1">
                <a:latin typeface="Arial Narrow" panose="020B0606020202030204" pitchFamily="34" charset="0"/>
              </a:rPr>
              <a:t>systems</a:t>
            </a:r>
            <a:r>
              <a:rPr lang="fr-CA" dirty="0">
                <a:latin typeface="Arial Narrow" panose="020B0606020202030204" pitchFamily="34" charset="0"/>
              </a:rPr>
              <a:t> en anglais)</a:t>
            </a:r>
          </a:p>
        </p:txBody>
      </p:sp>
      <p:sp>
        <p:nvSpPr>
          <p:cNvPr id="92164" name="Text Box 5"/>
          <p:cNvSpPr txBox="1">
            <a:spLocks noChangeArrowheads="1"/>
          </p:cNvSpPr>
          <p:nvPr/>
        </p:nvSpPr>
        <p:spPr bwMode="auto">
          <a:xfrm>
            <a:off x="595313" y="4851400"/>
            <a:ext cx="7399337"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dirty="0">
                <a:latin typeface="Arial Narrow" panose="020B0606020202030204" pitchFamily="34" charset="0"/>
              </a:rPr>
              <a:t>Chacun de ces types est lui-même formé d’un ou plusieurs tissus végétaux.</a:t>
            </a:r>
          </a:p>
        </p:txBody>
      </p:sp>
      <p:sp>
        <p:nvSpPr>
          <p:cNvPr id="92165" name="ZoneTexte 5"/>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691200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ext Box 2"/>
          <p:cNvSpPr txBox="1">
            <a:spLocks noChangeArrowheads="1"/>
          </p:cNvSpPr>
          <p:nvPr/>
        </p:nvSpPr>
        <p:spPr bwMode="auto">
          <a:xfrm>
            <a:off x="484188" y="484188"/>
            <a:ext cx="7767637"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1. Les méristèmes</a:t>
            </a:r>
          </a:p>
        </p:txBody>
      </p:sp>
      <p:sp>
        <p:nvSpPr>
          <p:cNvPr id="93186" name="Text Box 3"/>
          <p:cNvSpPr txBox="1">
            <a:spLocks noChangeArrowheads="1"/>
          </p:cNvSpPr>
          <p:nvPr/>
        </p:nvSpPr>
        <p:spPr bwMode="auto">
          <a:xfrm>
            <a:off x="595313" y="1222375"/>
            <a:ext cx="5292725"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CA" dirty="0">
                <a:latin typeface="Arial Narrow" panose="020B0606020202030204" pitchFamily="34" charset="0"/>
              </a:rPr>
              <a:t>= zones de la plante formées de </a:t>
            </a:r>
            <a:r>
              <a:rPr lang="fr-CA" b="1" dirty="0">
                <a:latin typeface="Arial Narrow" panose="020B0606020202030204" pitchFamily="34" charset="0"/>
              </a:rPr>
              <a:t>cellules embryonnaires</a:t>
            </a:r>
            <a:r>
              <a:rPr lang="fr-CA" dirty="0">
                <a:latin typeface="Arial Narrow" panose="020B0606020202030204" pitchFamily="34" charset="0"/>
              </a:rPr>
              <a:t> pouvant se multiplier et se transformer en n’importe quelle autre sorte de cellule.</a:t>
            </a:r>
          </a:p>
        </p:txBody>
      </p:sp>
      <p:grpSp>
        <p:nvGrpSpPr>
          <p:cNvPr id="2" name="Group 4"/>
          <p:cNvGrpSpPr>
            <a:grpSpLocks/>
          </p:cNvGrpSpPr>
          <p:nvPr/>
        </p:nvGrpSpPr>
        <p:grpSpPr bwMode="auto">
          <a:xfrm>
            <a:off x="496888" y="3425825"/>
            <a:ext cx="7988300" cy="2735263"/>
            <a:chOff x="313" y="2158"/>
            <a:chExt cx="5032" cy="1723"/>
          </a:xfrm>
        </p:grpSpPr>
        <p:sp>
          <p:nvSpPr>
            <p:cNvPr id="93190" name="Text Box 5"/>
            <p:cNvSpPr txBox="1">
              <a:spLocks noChangeArrowheads="1"/>
            </p:cNvSpPr>
            <p:nvPr/>
          </p:nvSpPr>
          <p:spPr bwMode="auto">
            <a:xfrm>
              <a:off x="313" y="2158"/>
              <a:ext cx="5032" cy="5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dirty="0">
                  <a:latin typeface="Arial Narrow" panose="020B0606020202030204" pitchFamily="34" charset="0"/>
                </a:rPr>
                <a:t>Les méristèmes sont responsables de la croissance des plantes. On reconnaît deux grands types de méristèmes :</a:t>
              </a:r>
            </a:p>
          </p:txBody>
        </p:sp>
        <p:sp>
          <p:nvSpPr>
            <p:cNvPr id="93191" name="Text Box 6"/>
            <p:cNvSpPr txBox="1">
              <a:spLocks noChangeArrowheads="1"/>
            </p:cNvSpPr>
            <p:nvPr/>
          </p:nvSpPr>
          <p:spPr bwMode="auto">
            <a:xfrm>
              <a:off x="403" y="2776"/>
              <a:ext cx="4809"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363538" indent="-363538"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Char char="•"/>
              </a:pPr>
              <a:r>
                <a:rPr lang="fr-CA" b="1" dirty="0">
                  <a:latin typeface="Arial Narrow" panose="020B0606020202030204" pitchFamily="34" charset="0"/>
                </a:rPr>
                <a:t>Méristème apical</a:t>
              </a:r>
              <a:r>
                <a:rPr lang="fr-CA" b="1" dirty="0">
                  <a:solidFill>
                    <a:srgbClr val="FFFF00"/>
                  </a:solidFill>
                  <a:latin typeface="Arial Narrow" panose="020B0606020202030204" pitchFamily="34" charset="0"/>
                </a:rPr>
                <a:t> </a:t>
              </a:r>
              <a:r>
                <a:rPr lang="fr-CA" b="1" dirty="0">
                  <a:latin typeface="Arial Narrow" panose="020B0606020202030204" pitchFamily="34" charset="0"/>
                </a:rPr>
                <a:t>: </a:t>
              </a:r>
              <a:r>
                <a:rPr lang="fr-CA" dirty="0">
                  <a:latin typeface="Arial Narrow" panose="020B0606020202030204" pitchFamily="34" charset="0"/>
                </a:rPr>
                <a:t>responsable de la</a:t>
              </a:r>
              <a:r>
                <a:rPr lang="fr-CA" b="1" dirty="0">
                  <a:latin typeface="Arial Narrow" panose="020B0606020202030204" pitchFamily="34" charset="0"/>
                </a:rPr>
                <a:t> croissance primaire</a:t>
              </a:r>
              <a:r>
                <a:rPr lang="fr-CA" dirty="0">
                  <a:latin typeface="Arial Narrow" panose="020B0606020202030204" pitchFamily="34" charset="0"/>
                </a:rPr>
                <a:t> = croissance en </a:t>
              </a:r>
              <a:r>
                <a:rPr lang="fr-CA" b="1" dirty="0">
                  <a:latin typeface="Arial Narrow" panose="020B0606020202030204" pitchFamily="34" charset="0"/>
                </a:rPr>
                <a:t>longueur</a:t>
              </a:r>
            </a:p>
            <a:p>
              <a:pPr eaLnBrk="1" hangingPunct="1">
                <a:spcBef>
                  <a:spcPct val="50000"/>
                </a:spcBef>
                <a:buFontTx/>
                <a:buChar char="•"/>
              </a:pPr>
              <a:r>
                <a:rPr lang="fr-CA" b="1" dirty="0">
                  <a:latin typeface="Arial Narrow" panose="020B0606020202030204" pitchFamily="34" charset="0"/>
                </a:rPr>
                <a:t>Méristème latéral</a:t>
              </a:r>
              <a:r>
                <a:rPr lang="fr-CA" b="1" dirty="0">
                  <a:solidFill>
                    <a:srgbClr val="FFFF00"/>
                  </a:solidFill>
                  <a:latin typeface="Arial Narrow" panose="020B0606020202030204" pitchFamily="34" charset="0"/>
                </a:rPr>
                <a:t> </a:t>
              </a:r>
              <a:r>
                <a:rPr lang="fr-CA" b="1" dirty="0">
                  <a:latin typeface="Arial Narrow" panose="020B0606020202030204" pitchFamily="34" charset="0"/>
                </a:rPr>
                <a:t>: </a:t>
              </a:r>
              <a:r>
                <a:rPr lang="fr-CA" dirty="0">
                  <a:latin typeface="Arial Narrow" panose="020B0606020202030204" pitchFamily="34" charset="0"/>
                </a:rPr>
                <a:t>responsable de la </a:t>
              </a:r>
              <a:r>
                <a:rPr lang="fr-CA" b="1" dirty="0">
                  <a:latin typeface="Arial Narrow" panose="020B0606020202030204" pitchFamily="34" charset="0"/>
                </a:rPr>
                <a:t>croissance secondaire</a:t>
              </a:r>
              <a:r>
                <a:rPr lang="fr-CA" dirty="0">
                  <a:latin typeface="Arial Narrow" panose="020B0606020202030204" pitchFamily="34" charset="0"/>
                </a:rPr>
                <a:t> = croissance en </a:t>
              </a:r>
              <a:r>
                <a:rPr lang="fr-CA" b="1" dirty="0">
                  <a:latin typeface="Arial Narrow" panose="020B0606020202030204" pitchFamily="34" charset="0"/>
                </a:rPr>
                <a:t>épaisseur</a:t>
              </a:r>
            </a:p>
          </p:txBody>
        </p:sp>
      </p:grpSp>
      <p:sp>
        <p:nvSpPr>
          <p:cNvPr id="93188" name="Text Box 7"/>
          <p:cNvSpPr txBox="1">
            <a:spLocks noChangeArrowheads="1"/>
          </p:cNvSpPr>
          <p:nvPr/>
        </p:nvSpPr>
        <p:spPr bwMode="auto">
          <a:xfrm>
            <a:off x="5886450" y="182563"/>
            <a:ext cx="2844800" cy="1446212"/>
          </a:xfrm>
          <a:prstGeom prst="rect">
            <a:avLst/>
          </a:prstGeom>
          <a:solidFill>
            <a:schemeClr val="bg1"/>
          </a:solidFill>
          <a:ln w="9525">
            <a:solidFill>
              <a:schemeClr val="tx1"/>
            </a:solidFill>
            <a:miter lim="800000"/>
            <a:headEnd/>
            <a:tailEnd/>
          </a:ln>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AutoNum type="arabicPeriod"/>
            </a:pPr>
            <a:r>
              <a:rPr lang="fr-CA" sz="1600" b="1">
                <a:solidFill>
                  <a:srgbClr val="CC3300"/>
                </a:solidFill>
              </a:rPr>
              <a:t>Méristèmes</a:t>
            </a:r>
          </a:p>
          <a:p>
            <a:pPr eaLnBrk="1" hangingPunct="1">
              <a:spcBef>
                <a:spcPct val="50000"/>
              </a:spcBef>
              <a:buFontTx/>
              <a:buAutoNum type="arabicPeriod"/>
            </a:pPr>
            <a:r>
              <a:rPr lang="fr-CA" sz="1600" b="1">
                <a:solidFill>
                  <a:srgbClr val="C0C0C0"/>
                </a:solidFill>
              </a:rPr>
              <a:t>Tissus fondamentaux</a:t>
            </a:r>
          </a:p>
          <a:p>
            <a:pPr eaLnBrk="1" hangingPunct="1">
              <a:spcBef>
                <a:spcPct val="50000"/>
              </a:spcBef>
              <a:buFontTx/>
              <a:buAutoNum type="arabicPeriod"/>
            </a:pPr>
            <a:r>
              <a:rPr lang="fr-CA" sz="1600" b="1">
                <a:solidFill>
                  <a:srgbClr val="C0C0C0"/>
                </a:solidFill>
              </a:rPr>
              <a:t>Tissus de revêtement</a:t>
            </a:r>
          </a:p>
          <a:p>
            <a:pPr eaLnBrk="1" hangingPunct="1">
              <a:spcBef>
                <a:spcPct val="50000"/>
              </a:spcBef>
              <a:buFontTx/>
              <a:buAutoNum type="arabicPeriod"/>
            </a:pPr>
            <a:r>
              <a:rPr lang="fr-CA" sz="1600" b="1">
                <a:solidFill>
                  <a:srgbClr val="C0C0C0"/>
                </a:solidFill>
              </a:rPr>
              <a:t>Tissus vasculaires</a:t>
            </a:r>
          </a:p>
        </p:txBody>
      </p:sp>
      <p:sp>
        <p:nvSpPr>
          <p:cNvPr id="93189" name="ZoneTexte 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7538004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ext Box 2"/>
          <p:cNvSpPr txBox="1">
            <a:spLocks noChangeArrowheads="1"/>
          </p:cNvSpPr>
          <p:nvPr/>
        </p:nvSpPr>
        <p:spPr bwMode="auto">
          <a:xfrm>
            <a:off x="507728" y="557549"/>
            <a:ext cx="7994650"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687638" indent="-2687638"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dirty="0">
                <a:latin typeface="Arial Narrow" panose="020B0606020202030204" pitchFamily="34" charset="0"/>
              </a:rPr>
              <a:t>Méristème apical</a:t>
            </a:r>
            <a:r>
              <a:rPr lang="fr-CA" dirty="0">
                <a:latin typeface="Arial Narrow" panose="020B0606020202030204" pitchFamily="34" charset="0"/>
              </a:rPr>
              <a:t> : dans les bourgeons et à l’extrémité des racines</a:t>
            </a:r>
          </a:p>
          <a:p>
            <a:pPr eaLnBrk="1" hangingPunct="1">
              <a:spcBef>
                <a:spcPct val="50000"/>
              </a:spcBef>
            </a:pPr>
            <a:r>
              <a:rPr lang="fr-CA" b="1" dirty="0">
                <a:latin typeface="Arial Narrow" panose="020B0606020202030204" pitchFamily="34" charset="0"/>
              </a:rPr>
              <a:t>Méristème latéral</a:t>
            </a:r>
            <a:r>
              <a:rPr lang="fr-CA" dirty="0">
                <a:latin typeface="Arial Narrow" panose="020B0606020202030204" pitchFamily="34" charset="0"/>
              </a:rPr>
              <a:t> : à la périphérie des tiges et racines</a:t>
            </a:r>
          </a:p>
        </p:txBody>
      </p:sp>
      <p:pic>
        <p:nvPicPr>
          <p:cNvPr id="94210" name="Picture 3" descr="meristeme_f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425" y="1687513"/>
            <a:ext cx="7119938" cy="5022850"/>
          </a:xfrm>
          <a:prstGeom prst="rect">
            <a:avLst/>
          </a:prstGeom>
          <a:noFill/>
          <a:ln w="19050">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94211" name="Oval 4"/>
          <p:cNvSpPr>
            <a:spLocks noChangeArrowheads="1"/>
          </p:cNvSpPr>
          <p:nvPr/>
        </p:nvSpPr>
        <p:spPr bwMode="auto">
          <a:xfrm>
            <a:off x="7045325" y="5629275"/>
            <a:ext cx="441325" cy="352425"/>
          </a:xfrm>
          <a:prstGeom prst="ellipse">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nchor="ctr">
            <a:spAutoFit/>
          </a:bodyPr>
          <a:lstStyle/>
          <a:p>
            <a:endParaRPr lang="fr-FR"/>
          </a:p>
        </p:txBody>
      </p:sp>
      <p:sp>
        <p:nvSpPr>
          <p:cNvPr id="94212" name="Line 5"/>
          <p:cNvSpPr>
            <a:spLocks noChangeShapeType="1"/>
          </p:cNvSpPr>
          <p:nvPr/>
        </p:nvSpPr>
        <p:spPr bwMode="auto">
          <a:xfrm flipV="1">
            <a:off x="5981700" y="5827713"/>
            <a:ext cx="1047750" cy="1651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spAutoFit/>
          </a:bodyPr>
          <a:lstStyle/>
          <a:p>
            <a:endParaRPr lang="fr-FR"/>
          </a:p>
        </p:txBody>
      </p:sp>
      <p:sp>
        <p:nvSpPr>
          <p:cNvPr id="94213" name="Oval 6"/>
          <p:cNvSpPr>
            <a:spLocks noChangeArrowheads="1"/>
          </p:cNvSpPr>
          <p:nvPr/>
        </p:nvSpPr>
        <p:spPr bwMode="auto">
          <a:xfrm>
            <a:off x="7051675" y="2301875"/>
            <a:ext cx="407988" cy="309563"/>
          </a:xfrm>
          <a:prstGeom prst="ellipse">
            <a:avLst/>
          </a:prstGeom>
          <a:noFill/>
          <a:ln w="28575">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wrap="none" anchor="ctr">
            <a:spAutoFit/>
          </a:bodyPr>
          <a:lstStyle/>
          <a:p>
            <a:endParaRPr lang="fr-FR"/>
          </a:p>
        </p:txBody>
      </p:sp>
      <p:sp>
        <p:nvSpPr>
          <p:cNvPr id="94214" name="ZoneTexte 6"/>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539152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ext Box 2"/>
          <p:cNvSpPr txBox="1">
            <a:spLocks noChangeArrowheads="1"/>
          </p:cNvSpPr>
          <p:nvPr/>
        </p:nvSpPr>
        <p:spPr bwMode="auto">
          <a:xfrm>
            <a:off x="484188" y="484188"/>
            <a:ext cx="7767637"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2. Les tissus fondamentaux</a:t>
            </a:r>
          </a:p>
        </p:txBody>
      </p:sp>
      <p:sp>
        <p:nvSpPr>
          <p:cNvPr id="95234" name="Text Box 3"/>
          <p:cNvSpPr txBox="1">
            <a:spLocks noChangeArrowheads="1"/>
          </p:cNvSpPr>
          <p:nvPr/>
        </p:nvSpPr>
        <p:spPr bwMode="auto">
          <a:xfrm>
            <a:off x="530225" y="1443038"/>
            <a:ext cx="702786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dirty="0">
                <a:latin typeface="Arial Narrow" panose="020B0606020202030204" pitchFamily="34" charset="0"/>
              </a:rPr>
              <a:t>Nombreuses fonctions :</a:t>
            </a:r>
          </a:p>
        </p:txBody>
      </p:sp>
      <p:sp>
        <p:nvSpPr>
          <p:cNvPr id="95235" name="Text Box 4"/>
          <p:cNvSpPr txBox="1">
            <a:spLocks noChangeArrowheads="1"/>
          </p:cNvSpPr>
          <p:nvPr/>
        </p:nvSpPr>
        <p:spPr bwMode="auto">
          <a:xfrm>
            <a:off x="671513" y="2071688"/>
            <a:ext cx="7667625" cy="304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265113" indent="-26511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Char char="•"/>
            </a:pPr>
            <a:r>
              <a:rPr lang="fr-CA" dirty="0">
                <a:latin typeface="Arial Narrow" panose="020B0606020202030204" pitchFamily="34" charset="0"/>
              </a:rPr>
              <a:t>Remplissent tous les espaces qui ne sont pas occupés par les autres tissus</a:t>
            </a:r>
          </a:p>
          <a:p>
            <a:pPr eaLnBrk="1" hangingPunct="1">
              <a:spcBef>
                <a:spcPct val="50000"/>
              </a:spcBef>
              <a:buFontTx/>
              <a:buChar char="•"/>
            </a:pPr>
            <a:r>
              <a:rPr lang="fr-CA" dirty="0">
                <a:latin typeface="Arial Narrow" panose="020B0606020202030204" pitchFamily="34" charset="0"/>
              </a:rPr>
              <a:t>Mise en réserve de nutriments</a:t>
            </a:r>
          </a:p>
          <a:p>
            <a:pPr eaLnBrk="1" hangingPunct="1">
              <a:spcBef>
                <a:spcPct val="50000"/>
              </a:spcBef>
              <a:buFontTx/>
              <a:buChar char="•"/>
            </a:pPr>
            <a:r>
              <a:rPr lang="fr-CA" dirty="0">
                <a:latin typeface="Arial Narrow" panose="020B0606020202030204" pitchFamily="34" charset="0"/>
              </a:rPr>
              <a:t>Soutien de la plante</a:t>
            </a:r>
          </a:p>
          <a:p>
            <a:pPr eaLnBrk="1" hangingPunct="1">
              <a:spcBef>
                <a:spcPct val="50000"/>
              </a:spcBef>
              <a:buFontTx/>
              <a:buChar char="•"/>
            </a:pPr>
            <a:r>
              <a:rPr lang="fr-CA" dirty="0">
                <a:latin typeface="Arial Narrow" panose="020B0606020202030204" pitchFamily="34" charset="0"/>
              </a:rPr>
              <a:t>Photosynthèse</a:t>
            </a:r>
          </a:p>
          <a:p>
            <a:pPr eaLnBrk="1" hangingPunct="1">
              <a:spcBef>
                <a:spcPct val="50000"/>
              </a:spcBef>
              <a:buFontTx/>
              <a:buChar char="•"/>
            </a:pPr>
            <a:r>
              <a:rPr lang="fr-CA" dirty="0">
                <a:latin typeface="Arial Narrow" panose="020B0606020202030204" pitchFamily="34" charset="0"/>
              </a:rPr>
              <a:t>Sécrétion (substances de défense ou attractives)</a:t>
            </a:r>
          </a:p>
        </p:txBody>
      </p:sp>
      <p:sp>
        <p:nvSpPr>
          <p:cNvPr id="95236" name="Text Box 5"/>
          <p:cNvSpPr txBox="1">
            <a:spLocks noChangeArrowheads="1"/>
          </p:cNvSpPr>
          <p:nvPr/>
        </p:nvSpPr>
        <p:spPr bwMode="auto">
          <a:xfrm>
            <a:off x="6164263" y="388938"/>
            <a:ext cx="2844800" cy="1446212"/>
          </a:xfrm>
          <a:prstGeom prst="rect">
            <a:avLst/>
          </a:prstGeom>
          <a:solidFill>
            <a:schemeClr val="bg1"/>
          </a:solidFill>
          <a:ln w="9525">
            <a:solidFill>
              <a:schemeClr val="tx1"/>
            </a:solidFill>
            <a:miter lim="800000"/>
            <a:headEnd/>
            <a:tailEnd/>
          </a:ln>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AutoNum type="arabicPeriod"/>
            </a:pPr>
            <a:r>
              <a:rPr lang="fr-CA" sz="1600" b="1">
                <a:solidFill>
                  <a:srgbClr val="C0C0C0"/>
                </a:solidFill>
              </a:rPr>
              <a:t>Méristèmes</a:t>
            </a:r>
          </a:p>
          <a:p>
            <a:pPr eaLnBrk="1" hangingPunct="1">
              <a:spcBef>
                <a:spcPct val="50000"/>
              </a:spcBef>
              <a:buFontTx/>
              <a:buAutoNum type="arabicPeriod"/>
            </a:pPr>
            <a:r>
              <a:rPr lang="fr-CA" sz="1600" b="1">
                <a:solidFill>
                  <a:srgbClr val="CC3300"/>
                </a:solidFill>
              </a:rPr>
              <a:t>Tissus fondamentaux</a:t>
            </a:r>
          </a:p>
          <a:p>
            <a:pPr eaLnBrk="1" hangingPunct="1">
              <a:spcBef>
                <a:spcPct val="50000"/>
              </a:spcBef>
              <a:buFontTx/>
              <a:buAutoNum type="arabicPeriod"/>
            </a:pPr>
            <a:r>
              <a:rPr lang="fr-CA" sz="1600" b="1">
                <a:solidFill>
                  <a:srgbClr val="C0C0C0"/>
                </a:solidFill>
              </a:rPr>
              <a:t>Tissus de revêtement</a:t>
            </a:r>
          </a:p>
          <a:p>
            <a:pPr eaLnBrk="1" hangingPunct="1">
              <a:spcBef>
                <a:spcPct val="50000"/>
              </a:spcBef>
              <a:buFontTx/>
              <a:buAutoNum type="arabicPeriod"/>
            </a:pPr>
            <a:r>
              <a:rPr lang="fr-CA" sz="1600" b="1">
                <a:solidFill>
                  <a:srgbClr val="C0C0C0"/>
                </a:solidFill>
              </a:rPr>
              <a:t>Tissus vasculaires</a:t>
            </a:r>
          </a:p>
        </p:txBody>
      </p:sp>
      <p:sp>
        <p:nvSpPr>
          <p:cNvPr id="95237" name="ZoneTexte 5"/>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851914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ext Box 2"/>
          <p:cNvSpPr txBox="1">
            <a:spLocks noChangeArrowheads="1"/>
          </p:cNvSpPr>
          <p:nvPr/>
        </p:nvSpPr>
        <p:spPr bwMode="auto">
          <a:xfrm>
            <a:off x="307975" y="407988"/>
            <a:ext cx="8350250"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dirty="0">
                <a:latin typeface="Arial Narrow" panose="020B0606020202030204" pitchFamily="34" charset="0"/>
              </a:rPr>
              <a:t>Trois types de cellules peuvent faire partie des tissus fondamentaux :</a:t>
            </a:r>
          </a:p>
        </p:txBody>
      </p:sp>
      <p:sp>
        <p:nvSpPr>
          <p:cNvPr id="96258" name="Text Box 3"/>
          <p:cNvSpPr txBox="1">
            <a:spLocks noChangeArrowheads="1"/>
          </p:cNvSpPr>
          <p:nvPr/>
        </p:nvSpPr>
        <p:spPr bwMode="auto">
          <a:xfrm>
            <a:off x="958850" y="1617663"/>
            <a:ext cx="7237413"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176213" indent="-17621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Char char="•"/>
            </a:pPr>
            <a:r>
              <a:rPr lang="fr-CA" b="1" dirty="0">
                <a:latin typeface="Arial Narrow" panose="020B0606020202030204" pitchFamily="34" charset="0"/>
              </a:rPr>
              <a:t>Parenchyme</a:t>
            </a:r>
            <a:r>
              <a:rPr lang="fr-CA" dirty="0">
                <a:latin typeface="Arial Narrow" panose="020B0606020202030204" pitchFamily="34" charset="0"/>
              </a:rPr>
              <a:t> (cellules </a:t>
            </a:r>
            <a:r>
              <a:rPr lang="fr-CA" i="1" dirty="0">
                <a:latin typeface="Arial Narrow" panose="020B0606020202030204" pitchFamily="34" charset="0"/>
              </a:rPr>
              <a:t>parenchymateuses</a:t>
            </a:r>
            <a:r>
              <a:rPr lang="fr-CA" dirty="0">
                <a:latin typeface="Arial Narrow" panose="020B0606020202030204" pitchFamily="34" charset="0"/>
              </a:rPr>
              <a:t>)</a:t>
            </a:r>
          </a:p>
          <a:p>
            <a:pPr eaLnBrk="1" hangingPunct="1">
              <a:spcBef>
                <a:spcPct val="50000"/>
              </a:spcBef>
              <a:buFontTx/>
              <a:buChar char="•"/>
            </a:pPr>
            <a:r>
              <a:rPr lang="fr-CA" b="1" dirty="0">
                <a:latin typeface="Arial Narrow" panose="020B0606020202030204" pitchFamily="34" charset="0"/>
              </a:rPr>
              <a:t>Collenchyme</a:t>
            </a:r>
            <a:r>
              <a:rPr lang="fr-CA" dirty="0">
                <a:latin typeface="Arial Narrow" panose="020B0606020202030204" pitchFamily="34" charset="0"/>
              </a:rPr>
              <a:t> (cellules </a:t>
            </a:r>
            <a:r>
              <a:rPr lang="fr-CA" i="1" dirty="0" err="1">
                <a:latin typeface="Arial Narrow" panose="020B0606020202030204" pitchFamily="34" charset="0"/>
              </a:rPr>
              <a:t>collenchymateuses</a:t>
            </a:r>
            <a:r>
              <a:rPr lang="fr-CA" dirty="0">
                <a:latin typeface="Arial Narrow" panose="020B0606020202030204" pitchFamily="34" charset="0"/>
              </a:rPr>
              <a:t>)</a:t>
            </a:r>
          </a:p>
          <a:p>
            <a:pPr eaLnBrk="1" hangingPunct="1">
              <a:spcBef>
                <a:spcPct val="50000"/>
              </a:spcBef>
              <a:buFontTx/>
              <a:buChar char="•"/>
            </a:pPr>
            <a:r>
              <a:rPr lang="fr-CA" b="1" dirty="0">
                <a:latin typeface="Arial Narrow" panose="020B0606020202030204" pitchFamily="34" charset="0"/>
              </a:rPr>
              <a:t>Sclérenchyme</a:t>
            </a:r>
            <a:r>
              <a:rPr lang="fr-CA" dirty="0">
                <a:latin typeface="Arial Narrow" panose="020B0606020202030204" pitchFamily="34" charset="0"/>
              </a:rPr>
              <a:t> (cellules </a:t>
            </a:r>
            <a:r>
              <a:rPr lang="fr-CA" i="1" dirty="0" err="1">
                <a:latin typeface="Arial Narrow" panose="020B0606020202030204" pitchFamily="34" charset="0"/>
              </a:rPr>
              <a:t>sclérenchymateuses</a:t>
            </a:r>
            <a:r>
              <a:rPr lang="fr-CA" dirty="0">
                <a:latin typeface="Arial Narrow" panose="020B0606020202030204" pitchFamily="34" charset="0"/>
              </a:rPr>
              <a:t>)</a:t>
            </a:r>
          </a:p>
        </p:txBody>
      </p:sp>
      <p:sp>
        <p:nvSpPr>
          <p:cNvPr id="96259" name="Text Box 4"/>
          <p:cNvSpPr txBox="1">
            <a:spLocks noChangeArrowheads="1"/>
          </p:cNvSpPr>
          <p:nvPr/>
        </p:nvSpPr>
        <p:spPr bwMode="auto">
          <a:xfrm>
            <a:off x="661193" y="3605598"/>
            <a:ext cx="7832725" cy="1079500"/>
          </a:xfrm>
          <a:prstGeom prst="rect">
            <a:avLst/>
          </a:prstGeom>
          <a:solidFill>
            <a:srgbClr val="F5FAE8"/>
          </a:solidFill>
          <a:ln w="9525">
            <a:solidFill>
              <a:schemeClr val="tx1"/>
            </a:solidFill>
            <a:miter lim="800000"/>
            <a:headEnd/>
            <a:tailEnd/>
          </a:ln>
          <a:effectLst>
            <a:outerShdw dist="35921" dir="2700000" algn="ctr" rotWithShape="0">
              <a:schemeClr val="tx1"/>
            </a:outerShdw>
          </a:effectLst>
        </p:spPr>
        <p:txBody>
          <a:bodyPr>
            <a:spAutoFit/>
          </a:bodyPr>
          <a:lstStyle>
            <a:lvl1pPr marL="176213" indent="-17621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dirty="0">
                <a:solidFill>
                  <a:srgbClr val="000000"/>
                </a:solidFill>
                <a:latin typeface="Arial Narrow" panose="020B0606020202030204" pitchFamily="34" charset="0"/>
              </a:rPr>
              <a:t>On divise souvent les tissus végétaux en tissus simples et tissus complexes :</a:t>
            </a:r>
          </a:p>
          <a:p>
            <a:pPr eaLnBrk="1" hangingPunct="1">
              <a:spcBef>
                <a:spcPct val="50000"/>
              </a:spcBef>
              <a:buFontTx/>
              <a:buChar char="•"/>
            </a:pPr>
            <a:r>
              <a:rPr lang="fr-CA" sz="1600" b="1" dirty="0">
                <a:solidFill>
                  <a:srgbClr val="000000"/>
                </a:solidFill>
                <a:latin typeface="Arial Narrow" panose="020B0606020202030204" pitchFamily="34" charset="0"/>
              </a:rPr>
              <a:t>Tissu simple : formé que d’un seul type de cellule.</a:t>
            </a:r>
          </a:p>
          <a:p>
            <a:pPr eaLnBrk="1" hangingPunct="1">
              <a:spcBef>
                <a:spcPct val="50000"/>
              </a:spcBef>
              <a:buFontTx/>
              <a:buChar char="•"/>
            </a:pPr>
            <a:r>
              <a:rPr lang="fr-CA" sz="1600" b="1" dirty="0">
                <a:solidFill>
                  <a:srgbClr val="000000"/>
                </a:solidFill>
                <a:latin typeface="Arial Narrow" panose="020B0606020202030204" pitchFamily="34" charset="0"/>
              </a:rPr>
              <a:t>Tissu complexe : peut contenir plusieurs types différents de cellules. </a:t>
            </a:r>
          </a:p>
        </p:txBody>
      </p:sp>
      <p:sp>
        <p:nvSpPr>
          <p:cNvPr id="96260" name="Text Box 5"/>
          <p:cNvSpPr txBox="1">
            <a:spLocks noChangeArrowheads="1"/>
          </p:cNvSpPr>
          <p:nvPr/>
        </p:nvSpPr>
        <p:spPr bwMode="auto">
          <a:xfrm>
            <a:off x="942975" y="5384800"/>
            <a:ext cx="7356475"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dirty="0">
                <a:latin typeface="Arial Narrow" panose="020B0606020202030204" pitchFamily="34" charset="0"/>
              </a:rPr>
              <a:t>Le parenchyme, le collenchyme et le sclérenchyme sont des tissus simples</a:t>
            </a:r>
            <a:endParaRPr lang="fr-CA" dirty="0">
              <a:latin typeface="Arial Narrow" panose="020B0606020202030204" pitchFamily="34" charset="0"/>
            </a:endParaRPr>
          </a:p>
        </p:txBody>
      </p:sp>
      <p:sp>
        <p:nvSpPr>
          <p:cNvPr id="96261" name="ZoneTexte 5"/>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210994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ext Box 2"/>
          <p:cNvSpPr txBox="1">
            <a:spLocks noChangeArrowheads="1"/>
          </p:cNvSpPr>
          <p:nvPr/>
        </p:nvSpPr>
        <p:spPr bwMode="auto">
          <a:xfrm>
            <a:off x="396875" y="430213"/>
            <a:ext cx="5959475"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2.1 Le parenchyme</a:t>
            </a:r>
          </a:p>
        </p:txBody>
      </p:sp>
      <p:pic>
        <p:nvPicPr>
          <p:cNvPr id="97282" name="Picture 3" descr="parenchyme"/>
          <p:cNvPicPr>
            <a:picLocks noChangeAspect="1" noChangeArrowheads="1"/>
          </p:cNvPicPr>
          <p:nvPr/>
        </p:nvPicPr>
        <p:blipFill>
          <a:blip r:embed="rId2">
            <a:lum contrast="6000"/>
            <a:extLst>
              <a:ext uri="{28A0092B-C50C-407E-A947-70E740481C1C}">
                <a14:useLocalDpi xmlns:a14="http://schemas.microsoft.com/office/drawing/2010/main" val="0"/>
              </a:ext>
            </a:extLst>
          </a:blip>
          <a:srcRect/>
          <a:stretch>
            <a:fillRect/>
          </a:stretch>
        </p:blipFill>
        <p:spPr bwMode="auto">
          <a:xfrm>
            <a:off x="6896100" y="296863"/>
            <a:ext cx="2016125" cy="2687637"/>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97283" name="Rectangle 4"/>
          <p:cNvSpPr>
            <a:spLocks noChangeArrowheads="1"/>
          </p:cNvSpPr>
          <p:nvPr/>
        </p:nvSpPr>
        <p:spPr bwMode="auto">
          <a:xfrm>
            <a:off x="242888" y="1370330"/>
            <a:ext cx="6599237" cy="4154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176213" indent="-176213" algn="just">
              <a:spcBef>
                <a:spcPct val="50000"/>
              </a:spcBef>
              <a:buFontTx/>
              <a:buChar char="•"/>
            </a:pPr>
            <a:r>
              <a:rPr lang="fr-CA" sz="2400" dirty="0">
                <a:latin typeface="Arial Narrow" panose="020B0606020202030204" pitchFamily="34" charset="0"/>
              </a:rPr>
              <a:t>Cellules </a:t>
            </a:r>
            <a:r>
              <a:rPr lang="fr-CA" sz="2400" b="1" dirty="0">
                <a:latin typeface="Arial Narrow" panose="020B0606020202030204" pitchFamily="34" charset="0"/>
              </a:rPr>
              <a:t>peu différenciées</a:t>
            </a:r>
            <a:r>
              <a:rPr lang="fr-CA" sz="2400" dirty="0">
                <a:latin typeface="Arial Narrow" panose="020B0606020202030204" pitchFamily="34" charset="0"/>
              </a:rPr>
              <a:t>.</a:t>
            </a:r>
          </a:p>
          <a:p>
            <a:pPr marL="176213" indent="-176213" algn="just">
              <a:spcBef>
                <a:spcPct val="50000"/>
              </a:spcBef>
              <a:buFontTx/>
              <a:buChar char="•"/>
            </a:pPr>
            <a:r>
              <a:rPr lang="fr-CA" sz="2400" dirty="0">
                <a:latin typeface="Arial Narrow" panose="020B0606020202030204" pitchFamily="34" charset="0"/>
              </a:rPr>
              <a:t>Paroi primaire </a:t>
            </a:r>
            <a:r>
              <a:rPr lang="fr-CA" sz="2400" b="1" dirty="0">
                <a:latin typeface="Arial Narrow" panose="020B0606020202030204" pitchFamily="34" charset="0"/>
              </a:rPr>
              <a:t>mince et flexible</a:t>
            </a:r>
            <a:r>
              <a:rPr lang="fr-CA" sz="2400" dirty="0">
                <a:latin typeface="Arial Narrow" panose="020B0606020202030204" pitchFamily="34" charset="0"/>
              </a:rPr>
              <a:t>; </a:t>
            </a:r>
            <a:r>
              <a:rPr lang="fr-CA" sz="2400" b="1" dirty="0">
                <a:latin typeface="Arial Narrow" panose="020B0606020202030204" pitchFamily="34" charset="0"/>
              </a:rPr>
              <a:t>pas de paroi secondaire.</a:t>
            </a:r>
          </a:p>
          <a:p>
            <a:pPr marL="176213" indent="-176213" algn="just">
              <a:spcBef>
                <a:spcPct val="50000"/>
              </a:spcBef>
              <a:buFontTx/>
              <a:buChar char="•"/>
            </a:pPr>
            <a:r>
              <a:rPr lang="fr-CA" sz="2400" dirty="0">
                <a:latin typeface="Arial Narrow" panose="020B0606020202030204" pitchFamily="34" charset="0"/>
              </a:rPr>
              <a:t>Effectuent la plupart des fonctions métaboliques (synthèse, photosynthèse).</a:t>
            </a:r>
          </a:p>
          <a:p>
            <a:pPr marL="176213" indent="-176213" algn="just">
              <a:spcBef>
                <a:spcPct val="50000"/>
              </a:spcBef>
              <a:buFontTx/>
              <a:buChar char="•"/>
            </a:pPr>
            <a:r>
              <a:rPr lang="fr-CA" sz="2400" dirty="0">
                <a:latin typeface="Arial Narrow" panose="020B0606020202030204" pitchFamily="34" charset="0"/>
              </a:rPr>
              <a:t>Peuvent </a:t>
            </a:r>
            <a:r>
              <a:rPr lang="fr-CA" sz="2400" b="1" dirty="0">
                <a:latin typeface="Arial Narrow" panose="020B0606020202030204" pitchFamily="34" charset="0"/>
              </a:rPr>
              <a:t>accumuler des réserves</a:t>
            </a:r>
            <a:r>
              <a:rPr lang="fr-CA" sz="2400" dirty="0">
                <a:latin typeface="Arial Narrow" panose="020B0606020202030204" pitchFamily="34" charset="0"/>
              </a:rPr>
              <a:t> (amidon sous forme </a:t>
            </a:r>
            <a:r>
              <a:rPr lang="fr-CA" sz="2400" i="1" dirty="0">
                <a:latin typeface="Arial Narrow" panose="020B0606020202030204" pitchFamily="34" charset="0"/>
              </a:rPr>
              <a:t>d’</a:t>
            </a:r>
            <a:r>
              <a:rPr lang="fr-CA" sz="2400" i="1" dirty="0" err="1">
                <a:latin typeface="Arial Narrow" panose="020B0606020202030204" pitchFamily="34" charset="0"/>
              </a:rPr>
              <a:t>amyloplastes</a:t>
            </a:r>
            <a:r>
              <a:rPr lang="fr-CA" sz="2400" dirty="0">
                <a:latin typeface="Arial Narrow" panose="020B0606020202030204" pitchFamily="34" charset="0"/>
              </a:rPr>
              <a:t> généralement).</a:t>
            </a:r>
          </a:p>
          <a:p>
            <a:pPr marL="176213" indent="-176213" algn="just">
              <a:spcBef>
                <a:spcPct val="50000"/>
              </a:spcBef>
              <a:buFontTx/>
              <a:buChar char="•"/>
            </a:pPr>
            <a:r>
              <a:rPr lang="fr-CA" sz="2400" dirty="0">
                <a:latin typeface="Arial Narrow" panose="020B0606020202030204" pitchFamily="34" charset="0"/>
              </a:rPr>
              <a:t>Peuvent se transformer en d’autres types de cellules dans certaines conditions (blessure, par exemple).</a:t>
            </a:r>
          </a:p>
        </p:txBody>
      </p:sp>
      <p:sp>
        <p:nvSpPr>
          <p:cNvPr id="97284" name="Text Box 5"/>
          <p:cNvSpPr txBox="1">
            <a:spLocks noChangeArrowheads="1"/>
          </p:cNvSpPr>
          <p:nvPr/>
        </p:nvSpPr>
        <p:spPr bwMode="auto">
          <a:xfrm>
            <a:off x="6842125" y="3084513"/>
            <a:ext cx="2092325" cy="1803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t>Amyloplastes (vésicules contenant de l’amidon) dans les cellules parenchymateuses d’une racine.</a:t>
            </a:r>
          </a:p>
        </p:txBody>
      </p:sp>
      <p:sp>
        <p:nvSpPr>
          <p:cNvPr id="97285" name="Line 6"/>
          <p:cNvSpPr>
            <a:spLocks noChangeShapeType="1"/>
          </p:cNvSpPr>
          <p:nvPr/>
        </p:nvSpPr>
        <p:spPr bwMode="auto">
          <a:xfrm flipV="1">
            <a:off x="7404100" y="2852738"/>
            <a:ext cx="373063" cy="276225"/>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97286" name="Line 7"/>
          <p:cNvSpPr>
            <a:spLocks noChangeShapeType="1"/>
          </p:cNvSpPr>
          <p:nvPr/>
        </p:nvSpPr>
        <p:spPr bwMode="auto">
          <a:xfrm flipH="1" flipV="1">
            <a:off x="7337425" y="2687638"/>
            <a:ext cx="87313" cy="441325"/>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97287" name="ZoneTexte 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4289364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2" descr="RanuncrootX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19138" y="693738"/>
            <a:ext cx="4549775" cy="4348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8306" name="Text Box 3"/>
          <p:cNvSpPr txBox="1">
            <a:spLocks noChangeArrowheads="1"/>
          </p:cNvSpPr>
          <p:nvPr/>
        </p:nvSpPr>
        <p:spPr bwMode="auto">
          <a:xfrm>
            <a:off x="639763" y="5276850"/>
            <a:ext cx="434022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a:t>Coupe d’une racine primaire</a:t>
            </a:r>
          </a:p>
        </p:txBody>
      </p:sp>
      <p:sp>
        <p:nvSpPr>
          <p:cNvPr id="98307" name="Text Box 4"/>
          <p:cNvSpPr txBox="1">
            <a:spLocks noChangeArrowheads="1"/>
          </p:cNvSpPr>
          <p:nvPr/>
        </p:nvSpPr>
        <p:spPr bwMode="auto">
          <a:xfrm>
            <a:off x="3384550" y="542925"/>
            <a:ext cx="1171575" cy="376238"/>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a:solidFill>
                  <a:srgbClr val="000000"/>
                </a:solidFill>
              </a:rPr>
              <a:t>Épiderme</a:t>
            </a:r>
          </a:p>
        </p:txBody>
      </p:sp>
      <p:sp>
        <p:nvSpPr>
          <p:cNvPr id="98308" name="Line 5"/>
          <p:cNvSpPr>
            <a:spLocks noChangeShapeType="1"/>
          </p:cNvSpPr>
          <p:nvPr/>
        </p:nvSpPr>
        <p:spPr bwMode="auto">
          <a:xfrm flipH="1">
            <a:off x="3403600" y="925513"/>
            <a:ext cx="407988" cy="463550"/>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44390" name="Line 6"/>
          <p:cNvSpPr>
            <a:spLocks noChangeShapeType="1"/>
          </p:cNvSpPr>
          <p:nvPr/>
        </p:nvSpPr>
        <p:spPr bwMode="auto">
          <a:xfrm flipH="1" flipV="1">
            <a:off x="1443038" y="4451350"/>
            <a:ext cx="827087" cy="450850"/>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98310" name="Text Box 7"/>
          <p:cNvSpPr txBox="1">
            <a:spLocks noChangeArrowheads="1"/>
          </p:cNvSpPr>
          <p:nvPr/>
        </p:nvSpPr>
        <p:spPr bwMode="auto">
          <a:xfrm>
            <a:off x="2268538" y="4759325"/>
            <a:ext cx="2060575" cy="376238"/>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a:solidFill>
                  <a:srgbClr val="000000"/>
                </a:solidFill>
              </a:rPr>
              <a:t>Tissus vasculaires</a:t>
            </a:r>
          </a:p>
        </p:txBody>
      </p:sp>
      <p:pic>
        <p:nvPicPr>
          <p:cNvPr id="98311" name="Picture 8" descr="parenchym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3738" y="1128713"/>
            <a:ext cx="2952750" cy="2976562"/>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44393" name="Line 9"/>
          <p:cNvSpPr>
            <a:spLocks noChangeShapeType="1"/>
          </p:cNvSpPr>
          <p:nvPr/>
        </p:nvSpPr>
        <p:spPr bwMode="auto">
          <a:xfrm>
            <a:off x="2743200" y="2797175"/>
            <a:ext cx="385763" cy="717550"/>
          </a:xfrm>
          <a:prstGeom prst="line">
            <a:avLst/>
          </a:prstGeom>
          <a:noFill/>
          <a:ln w="38100">
            <a:solidFill>
              <a:srgbClr val="FF3300"/>
            </a:solidFill>
            <a:round/>
            <a:headEnd/>
            <a:tailEn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44394" name="Line 10"/>
          <p:cNvSpPr>
            <a:spLocks noChangeShapeType="1"/>
          </p:cNvSpPr>
          <p:nvPr/>
        </p:nvSpPr>
        <p:spPr bwMode="auto">
          <a:xfrm flipV="1">
            <a:off x="1936750" y="2573338"/>
            <a:ext cx="2660650" cy="1738312"/>
          </a:xfrm>
          <a:prstGeom prst="line">
            <a:avLst/>
          </a:prstGeom>
          <a:noFill/>
          <a:ln w="38100">
            <a:solidFill>
              <a:srgbClr val="FF3300"/>
            </a:solidFill>
            <a:round/>
            <a:headEnd type="triangle" w="med" len="me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98314" name="Text Box 11"/>
          <p:cNvSpPr txBox="1">
            <a:spLocks noChangeArrowheads="1"/>
          </p:cNvSpPr>
          <p:nvPr/>
        </p:nvSpPr>
        <p:spPr bwMode="auto">
          <a:xfrm>
            <a:off x="1979613" y="2420938"/>
            <a:ext cx="2008187" cy="46672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a:solidFill>
                  <a:srgbClr val="000000"/>
                </a:solidFill>
              </a:rPr>
              <a:t>Parenchyme</a:t>
            </a:r>
          </a:p>
        </p:txBody>
      </p:sp>
      <p:sp>
        <p:nvSpPr>
          <p:cNvPr id="98315" name="ZoneTexte 11"/>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436152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079500" y="241300"/>
            <a:ext cx="6985000" cy="6362700"/>
          </a:xfrm>
          <a:prstGeom prst="rect">
            <a:avLst/>
          </a:prstGeom>
        </p:spPr>
      </p:pic>
    </p:spTree>
    <p:extLst>
      <p:ext uri="{BB962C8B-B14F-4D97-AF65-F5344CB8AC3E}">
        <p14:creationId xmlns:p14="http://schemas.microsoft.com/office/powerpoint/2010/main" val="415654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29" name="Picture 2" descr="feuil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513" y="3484563"/>
            <a:ext cx="5486400" cy="30861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45411" name="Line 3"/>
          <p:cNvSpPr>
            <a:spLocks noChangeShapeType="1"/>
          </p:cNvSpPr>
          <p:nvPr/>
        </p:nvSpPr>
        <p:spPr bwMode="auto">
          <a:xfrm flipH="1">
            <a:off x="5072063" y="3125788"/>
            <a:ext cx="738187" cy="1135062"/>
          </a:xfrm>
          <a:prstGeom prst="line">
            <a:avLst/>
          </a:prstGeom>
          <a:noFill/>
          <a:ln w="38100">
            <a:solidFill>
              <a:srgbClr val="CC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45412" name="Line 4"/>
          <p:cNvSpPr>
            <a:spLocks noChangeShapeType="1"/>
          </p:cNvSpPr>
          <p:nvPr/>
        </p:nvSpPr>
        <p:spPr bwMode="auto">
          <a:xfrm flipH="1">
            <a:off x="5414963" y="3187700"/>
            <a:ext cx="357187" cy="1938338"/>
          </a:xfrm>
          <a:prstGeom prst="line">
            <a:avLst/>
          </a:prstGeom>
          <a:noFill/>
          <a:ln w="38100">
            <a:solidFill>
              <a:srgbClr val="CC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99332" name="Text Box 5"/>
          <p:cNvSpPr txBox="1">
            <a:spLocks noChangeArrowheads="1"/>
          </p:cNvSpPr>
          <p:nvPr/>
        </p:nvSpPr>
        <p:spPr bwMode="auto">
          <a:xfrm>
            <a:off x="4418013" y="2249488"/>
            <a:ext cx="3690937" cy="925512"/>
          </a:xfrm>
          <a:prstGeom prst="rect">
            <a:avLst/>
          </a:prstGeom>
          <a:solidFill>
            <a:srgbClr val="F5FAE8"/>
          </a:solidFill>
          <a:ln w="9525">
            <a:solidFill>
              <a:schemeClr val="tx1"/>
            </a:solidFill>
            <a:miter lim="800000"/>
            <a:headEnd/>
            <a:tailEnd/>
          </a:ln>
          <a:effectLst>
            <a:outerShdw dist="35921" dir="2700000" algn="ctr" rotWithShape="0">
              <a:schemeClr val="tx1"/>
            </a:outerShdw>
          </a:effec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a:solidFill>
                  <a:srgbClr val="000000"/>
                </a:solidFill>
              </a:rPr>
              <a:t>Coupe d’une feuille montrant les cellules de parenchyme responsables de la photosynthèse</a:t>
            </a:r>
          </a:p>
        </p:txBody>
      </p:sp>
      <p:pic>
        <p:nvPicPr>
          <p:cNvPr id="99333" name="Picture 6" descr="feuillehisto"/>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4488" y="212725"/>
            <a:ext cx="5678487" cy="25130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9334" name="Text Box 7"/>
          <p:cNvSpPr txBox="1">
            <a:spLocks noChangeArrowheads="1"/>
          </p:cNvSpPr>
          <p:nvPr/>
        </p:nvSpPr>
        <p:spPr bwMode="auto">
          <a:xfrm>
            <a:off x="4705350" y="755650"/>
            <a:ext cx="1539875" cy="376238"/>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b="1">
                <a:solidFill>
                  <a:srgbClr val="000000"/>
                </a:solidFill>
              </a:rPr>
              <a:t>parenchyme</a:t>
            </a:r>
          </a:p>
        </p:txBody>
      </p:sp>
      <p:sp>
        <p:nvSpPr>
          <p:cNvPr id="99335" name="Text Box 8"/>
          <p:cNvSpPr txBox="1">
            <a:spLocks noChangeArrowheads="1"/>
          </p:cNvSpPr>
          <p:nvPr/>
        </p:nvSpPr>
        <p:spPr bwMode="auto">
          <a:xfrm>
            <a:off x="203200" y="1503363"/>
            <a:ext cx="1389063" cy="34607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parenchyme</a:t>
            </a:r>
          </a:p>
        </p:txBody>
      </p:sp>
      <p:sp>
        <p:nvSpPr>
          <p:cNvPr id="99336" name="ZoneTexte 8"/>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2343565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3" name="Picture 4" descr="feuille-ner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989138"/>
            <a:ext cx="3048000" cy="2752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0354" name="Picture 5" descr="feuille-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625" y="2492375"/>
            <a:ext cx="3048000" cy="19431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0355" name="Text Box 6"/>
          <p:cNvSpPr txBox="1">
            <a:spLocks noChangeArrowheads="1"/>
          </p:cNvSpPr>
          <p:nvPr/>
        </p:nvSpPr>
        <p:spPr bwMode="auto">
          <a:xfrm>
            <a:off x="468313" y="5084763"/>
            <a:ext cx="3887787" cy="915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FR" sz="1800"/>
              <a:t>Parenchyme palissadique (face supérieure) et parenchyme chlorophyllien lacuneux </a:t>
            </a:r>
          </a:p>
        </p:txBody>
      </p:sp>
      <p:sp>
        <p:nvSpPr>
          <p:cNvPr id="100356" name="Text Box 7"/>
          <p:cNvSpPr txBox="1">
            <a:spLocks noChangeArrowheads="1"/>
          </p:cNvSpPr>
          <p:nvPr/>
        </p:nvSpPr>
        <p:spPr bwMode="auto">
          <a:xfrm>
            <a:off x="5292725" y="4941888"/>
            <a:ext cx="3455988" cy="1190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FR" sz="1800"/>
              <a:t>Les cellules du parenchyme chlorophyllien sont très proches des nervures et donc des éléments conducteurs </a:t>
            </a:r>
          </a:p>
        </p:txBody>
      </p:sp>
      <p:sp>
        <p:nvSpPr>
          <p:cNvPr id="100357" name="Rectangle 8"/>
          <p:cNvSpPr>
            <a:spLocks noGrp="1" noChangeArrowheads="1"/>
          </p:cNvSpPr>
          <p:nvPr>
            <p:ph type="title"/>
          </p:nvPr>
        </p:nvSpPr>
        <p:spPr/>
        <p:txBody>
          <a:bodyPr/>
          <a:lstStyle/>
          <a:p>
            <a:pPr eaLnBrk="1" hangingPunct="1"/>
            <a:r>
              <a:rPr lang="fr-FR">
                <a:latin typeface="Arial" charset="0"/>
              </a:rPr>
              <a:t>Le parenchyme chlorophyllien </a:t>
            </a:r>
          </a:p>
        </p:txBody>
      </p:sp>
      <p:sp>
        <p:nvSpPr>
          <p:cNvPr id="100358" name="ZoneTexte 6"/>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612637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ext Box 2"/>
          <p:cNvSpPr txBox="1">
            <a:spLocks noChangeArrowheads="1"/>
          </p:cNvSpPr>
          <p:nvPr/>
        </p:nvSpPr>
        <p:spPr bwMode="auto">
          <a:xfrm>
            <a:off x="374650" y="242888"/>
            <a:ext cx="4460875"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2.2 Le collenchyme</a:t>
            </a:r>
          </a:p>
        </p:txBody>
      </p:sp>
      <p:pic>
        <p:nvPicPr>
          <p:cNvPr id="101378" name="Picture 3" descr="collenchym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9338" y="623888"/>
            <a:ext cx="3732212" cy="3309937"/>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47460" name="Text Box 4"/>
          <p:cNvSpPr txBox="1">
            <a:spLocks noChangeArrowheads="1"/>
          </p:cNvSpPr>
          <p:nvPr/>
        </p:nvSpPr>
        <p:spPr bwMode="auto">
          <a:xfrm>
            <a:off x="311150" y="966788"/>
            <a:ext cx="4533900" cy="3046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a:spcBef>
                <a:spcPct val="50000"/>
              </a:spcBef>
              <a:buFontTx/>
              <a:buChar char="•"/>
            </a:pPr>
            <a:r>
              <a:rPr lang="fr-CA" dirty="0">
                <a:latin typeface="Arial Narrow" panose="020B0606020202030204" pitchFamily="34" charset="0"/>
              </a:rPr>
              <a:t>Tissu de </a:t>
            </a:r>
            <a:r>
              <a:rPr lang="fr-CA" b="1" dirty="0">
                <a:latin typeface="Arial Narrow" panose="020B0606020202030204" pitchFamily="34" charset="0"/>
              </a:rPr>
              <a:t>soutien</a:t>
            </a:r>
            <a:r>
              <a:rPr lang="fr-CA" dirty="0">
                <a:latin typeface="Arial Narrow" panose="020B0606020202030204" pitchFamily="34" charset="0"/>
              </a:rPr>
              <a:t>.</a:t>
            </a:r>
          </a:p>
          <a:p>
            <a:pPr algn="just">
              <a:spcBef>
                <a:spcPct val="50000"/>
              </a:spcBef>
              <a:buFontTx/>
              <a:buChar char="•"/>
            </a:pPr>
            <a:r>
              <a:rPr lang="fr-CA" b="1" dirty="0">
                <a:latin typeface="Arial Narrow" panose="020B0606020202030204" pitchFamily="34" charset="0"/>
              </a:rPr>
              <a:t>Paroi primaire</a:t>
            </a:r>
            <a:r>
              <a:rPr lang="fr-CA" dirty="0">
                <a:latin typeface="Arial Narrow" panose="020B0606020202030204" pitchFamily="34" charset="0"/>
              </a:rPr>
              <a:t> </a:t>
            </a:r>
            <a:r>
              <a:rPr lang="fr-CA" b="1" dirty="0">
                <a:latin typeface="Arial Narrow" panose="020B0606020202030204" pitchFamily="34" charset="0"/>
              </a:rPr>
              <a:t>épaisse</a:t>
            </a:r>
            <a:r>
              <a:rPr lang="fr-CA" dirty="0">
                <a:latin typeface="Arial Narrow" panose="020B0606020202030204" pitchFamily="34" charset="0"/>
              </a:rPr>
              <a:t> et résistante (épaisse surtout « dans les coins »). Élastique et peu rigide</a:t>
            </a:r>
          </a:p>
          <a:p>
            <a:pPr algn="just">
              <a:spcBef>
                <a:spcPct val="50000"/>
              </a:spcBef>
              <a:buFontTx/>
              <a:buChar char="•"/>
            </a:pPr>
            <a:r>
              <a:rPr lang="fr-CA" dirty="0">
                <a:latin typeface="Arial Narrow" panose="020B0606020202030204" pitchFamily="34" charset="0"/>
              </a:rPr>
              <a:t>Cellules </a:t>
            </a:r>
            <a:r>
              <a:rPr lang="fr-CA" b="1" dirty="0">
                <a:latin typeface="Arial Narrow" panose="020B0606020202030204" pitchFamily="34" charset="0"/>
              </a:rPr>
              <a:t>vivantes</a:t>
            </a:r>
            <a:r>
              <a:rPr lang="fr-CA" dirty="0">
                <a:latin typeface="Arial Narrow" panose="020B0606020202030204" pitchFamily="34" charset="0"/>
              </a:rPr>
              <a:t>, allongées (forment des fibres ~ 2mm de longueur).</a:t>
            </a:r>
          </a:p>
        </p:txBody>
      </p:sp>
      <p:sp>
        <p:nvSpPr>
          <p:cNvPr id="147461" name="Text Box 5"/>
          <p:cNvSpPr txBox="1">
            <a:spLocks noChangeArrowheads="1"/>
          </p:cNvSpPr>
          <p:nvPr/>
        </p:nvSpPr>
        <p:spPr bwMode="auto">
          <a:xfrm>
            <a:off x="295275" y="4397375"/>
            <a:ext cx="6542088" cy="17543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marL="269875" indent="-269875"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a:spcBef>
                <a:spcPct val="50000"/>
              </a:spcBef>
              <a:buFontTx/>
              <a:buChar char="•"/>
            </a:pPr>
            <a:r>
              <a:rPr lang="fr-CA" b="1" dirty="0">
                <a:latin typeface="Arial Narrow" panose="020B0606020202030204" pitchFamily="34" charset="0"/>
              </a:rPr>
              <a:t>Pas de paroi secondaire</a:t>
            </a:r>
            <a:r>
              <a:rPr lang="fr-CA" dirty="0">
                <a:latin typeface="Arial Narrow" panose="020B0606020202030204" pitchFamily="34" charset="0"/>
              </a:rPr>
              <a:t> donc pas de lignine, donc paroi souple; la cellule peut s’allonger.</a:t>
            </a:r>
          </a:p>
          <a:p>
            <a:pPr algn="just">
              <a:spcBef>
                <a:spcPct val="50000"/>
              </a:spcBef>
              <a:buFontTx/>
              <a:buChar char="•"/>
            </a:pPr>
            <a:r>
              <a:rPr lang="fr-CA" dirty="0">
                <a:latin typeface="Arial Narrow" panose="020B0606020202030204" pitchFamily="34" charset="0"/>
              </a:rPr>
              <a:t>Soutien des parties </a:t>
            </a:r>
            <a:r>
              <a:rPr lang="fr-CA" b="1" dirty="0">
                <a:latin typeface="Arial Narrow" panose="020B0606020202030204" pitchFamily="34" charset="0"/>
              </a:rPr>
              <a:t>en croissance</a:t>
            </a:r>
            <a:r>
              <a:rPr lang="fr-CA" dirty="0">
                <a:latin typeface="Arial Narrow" panose="020B0606020202030204" pitchFamily="34" charset="0"/>
              </a:rPr>
              <a:t> comme les jeunes tiges ou les feuilles.</a:t>
            </a:r>
          </a:p>
        </p:txBody>
      </p:sp>
      <p:pic>
        <p:nvPicPr>
          <p:cNvPr id="101381" name="Picture 6" descr="Collncel"/>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08913" y="2533650"/>
            <a:ext cx="1114425" cy="18049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1382" name="Picture 7" descr="Celery_cross_section"/>
          <p:cNvPicPr>
            <a:picLocks noChangeAspect="1" noChangeArrowheads="1"/>
          </p:cNvPicPr>
          <p:nvPr/>
        </p:nvPicPr>
        <p:blipFill>
          <a:blip r:embed="rId4">
            <a:lum contrast="12000"/>
            <a:extLst>
              <a:ext uri="{28A0092B-C50C-407E-A947-70E740481C1C}">
                <a14:useLocalDpi xmlns:a14="http://schemas.microsoft.com/office/drawing/2010/main" val="0"/>
              </a:ext>
            </a:extLst>
          </a:blip>
          <a:srcRect/>
          <a:stretch>
            <a:fillRect/>
          </a:stretch>
        </p:blipFill>
        <p:spPr bwMode="auto">
          <a:xfrm>
            <a:off x="6738938" y="5154613"/>
            <a:ext cx="2063750" cy="15509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1383" name="Freeform 8"/>
          <p:cNvSpPr>
            <a:spLocks/>
          </p:cNvSpPr>
          <p:nvPr/>
        </p:nvSpPr>
        <p:spPr bwMode="auto">
          <a:xfrm>
            <a:off x="7621588" y="5365750"/>
            <a:ext cx="531812" cy="484188"/>
          </a:xfrm>
          <a:custGeom>
            <a:avLst/>
            <a:gdLst>
              <a:gd name="T0" fmla="*/ 0 w 335"/>
              <a:gd name="T1" fmla="*/ 2147483647 h 305"/>
              <a:gd name="T2" fmla="*/ 2147483647 w 335"/>
              <a:gd name="T3" fmla="*/ 0 h 305"/>
              <a:gd name="T4" fmla="*/ 2147483647 w 335"/>
              <a:gd name="T5" fmla="*/ 2147483647 h 305"/>
              <a:gd name="T6" fmla="*/ 0 60000 65536"/>
              <a:gd name="T7" fmla="*/ 0 60000 65536"/>
              <a:gd name="T8" fmla="*/ 0 60000 65536"/>
              <a:gd name="T9" fmla="*/ 0 w 335"/>
              <a:gd name="T10" fmla="*/ 0 h 305"/>
              <a:gd name="T11" fmla="*/ 335 w 335"/>
              <a:gd name="T12" fmla="*/ 305 h 305"/>
            </a:gdLst>
            <a:ahLst/>
            <a:cxnLst>
              <a:cxn ang="T6">
                <a:pos x="T0" y="T1"/>
              </a:cxn>
              <a:cxn ang="T7">
                <a:pos x="T2" y="T3"/>
              </a:cxn>
              <a:cxn ang="T8">
                <a:pos x="T4" y="T5"/>
              </a:cxn>
            </a:cxnLst>
            <a:rect l="T9" t="T10" r="T11" b="T12"/>
            <a:pathLst>
              <a:path w="335" h="305">
                <a:moveTo>
                  <a:pt x="0" y="223"/>
                </a:moveTo>
                <a:lnTo>
                  <a:pt x="335" y="0"/>
                </a:lnTo>
                <a:lnTo>
                  <a:pt x="12" y="305"/>
                </a:lnTo>
              </a:path>
            </a:pathLst>
          </a:custGeom>
          <a:noFill/>
          <a:ln w="19050" cap="flat" cmpd="sng">
            <a:solidFill>
              <a:schemeClr val="tx1"/>
            </a:solidFill>
            <a:prstDash val="solid"/>
            <a:round/>
            <a:headEnd type="triangle" w="med" len="med"/>
            <a:tailEnd type="triangle" w="med" len="med"/>
          </a:ln>
          <a:extLst>
            <a:ext uri="{909E8E84-426E-40dd-AFC4-6F175D3DCCD1}">
              <a14:hiddenFill xmlns="" xmlns:a14="http://schemas.microsoft.com/office/drawing/2010/main">
                <a:solidFill>
                  <a:srgbClr val="FFFFFF"/>
                </a:solidFill>
              </a14:hiddenFill>
            </a:ext>
          </a:extLst>
        </p:spPr>
        <p:txBody>
          <a:bodyPr>
            <a:spAutoFit/>
          </a:bodyPr>
          <a:lstStyle/>
          <a:p>
            <a:endParaRPr lang="fr-FR"/>
          </a:p>
        </p:txBody>
      </p:sp>
      <p:sp>
        <p:nvSpPr>
          <p:cNvPr id="101384" name="Text Box 9"/>
          <p:cNvSpPr txBox="1">
            <a:spLocks noChangeArrowheads="1"/>
          </p:cNvSpPr>
          <p:nvPr/>
        </p:nvSpPr>
        <p:spPr bwMode="auto">
          <a:xfrm>
            <a:off x="7500938" y="4797425"/>
            <a:ext cx="1500187" cy="593725"/>
          </a:xfrm>
          <a:prstGeom prst="rect">
            <a:avLst/>
          </a:prstGeom>
          <a:solidFill>
            <a:srgbClr val="F5FAE8"/>
          </a:solidFill>
          <a:ln w="12700">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fr-CA" sz="1600" b="1">
                <a:solidFill>
                  <a:srgbClr val="000000"/>
                </a:solidFill>
              </a:rPr>
              <a:t>Ex. « fibres » dans le céleri</a:t>
            </a:r>
          </a:p>
        </p:txBody>
      </p:sp>
      <p:sp>
        <p:nvSpPr>
          <p:cNvPr id="101385" name="ZoneTexte 9"/>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2267704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7460"/>
                                        </p:tgtEl>
                                        <p:attrNameLst>
                                          <p:attrName>style.visibility</p:attrName>
                                        </p:attrNameLst>
                                      </p:cBhvr>
                                      <p:to>
                                        <p:strVal val="visible"/>
                                      </p:to>
                                    </p:set>
                                    <p:animEffect transition="in" filter="wipe(left)">
                                      <p:cBhvr>
                                        <p:cTn id="7" dur="500"/>
                                        <p:tgtEl>
                                          <p:spTgt spid="1474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7461"/>
                                        </p:tgtEl>
                                        <p:attrNameLst>
                                          <p:attrName>style.visibility</p:attrName>
                                        </p:attrNameLst>
                                      </p:cBhvr>
                                      <p:to>
                                        <p:strVal val="visible"/>
                                      </p:to>
                                    </p:set>
                                    <p:animEffect transition="in" filter="wipe(left)">
                                      <p:cBhvr>
                                        <p:cTn id="12" dur="500"/>
                                        <p:tgtEl>
                                          <p:spTgt spid="147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0" grpId="0"/>
      <p:bldP spid="14746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1" name="Picture 2" descr="sclerenchyme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1138" y="533400"/>
            <a:ext cx="3594100" cy="25400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02402" name="Picture 3" descr="sclerenchym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8938" y="3381375"/>
            <a:ext cx="3429000" cy="257175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48484" name="Text Box 4"/>
          <p:cNvSpPr txBox="1">
            <a:spLocks noChangeArrowheads="1"/>
          </p:cNvSpPr>
          <p:nvPr/>
        </p:nvSpPr>
        <p:spPr bwMode="auto">
          <a:xfrm>
            <a:off x="312738" y="968375"/>
            <a:ext cx="4522787" cy="48936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a:spcBef>
                <a:spcPct val="50000"/>
              </a:spcBef>
              <a:buFontTx/>
              <a:buChar char="•"/>
            </a:pPr>
            <a:r>
              <a:rPr lang="fr-CA" dirty="0">
                <a:latin typeface="Arial Narrow" panose="020B0606020202030204" pitchFamily="34" charset="0"/>
              </a:rPr>
              <a:t>Cellules de soutien des parties de la plante </a:t>
            </a:r>
            <a:r>
              <a:rPr lang="fr-CA" b="1" dirty="0">
                <a:latin typeface="Arial Narrow" panose="020B0606020202030204" pitchFamily="34" charset="0"/>
              </a:rPr>
              <a:t>qui ne sont plus en croissance</a:t>
            </a:r>
            <a:r>
              <a:rPr lang="fr-CA" dirty="0">
                <a:latin typeface="Arial Narrow" panose="020B0606020202030204" pitchFamily="34" charset="0"/>
              </a:rPr>
              <a:t>.</a:t>
            </a:r>
          </a:p>
          <a:p>
            <a:pPr algn="just">
              <a:spcBef>
                <a:spcPct val="50000"/>
              </a:spcBef>
              <a:buFontTx/>
              <a:buChar char="•"/>
            </a:pPr>
            <a:r>
              <a:rPr lang="fr-CA" dirty="0">
                <a:latin typeface="Arial Narrow" panose="020B0606020202030204" pitchFamily="34" charset="0"/>
              </a:rPr>
              <a:t>Cellules généralement allongées (peuvent être très longues; quelques mm à plusieurs cm) : forment des </a:t>
            </a:r>
            <a:r>
              <a:rPr lang="fr-CA" b="1" dirty="0">
                <a:latin typeface="Arial Narrow" panose="020B0606020202030204" pitchFamily="34" charset="0"/>
              </a:rPr>
              <a:t>fibres végétales</a:t>
            </a:r>
          </a:p>
          <a:p>
            <a:pPr algn="just">
              <a:spcBef>
                <a:spcPct val="50000"/>
              </a:spcBef>
              <a:buFontTx/>
              <a:buChar char="•"/>
            </a:pPr>
            <a:r>
              <a:rPr lang="fr-CA" b="1" dirty="0">
                <a:latin typeface="Arial Narrow" panose="020B0606020202030204" pitchFamily="34" charset="0"/>
              </a:rPr>
              <a:t>Paroi secondaire épaisse</a:t>
            </a:r>
            <a:r>
              <a:rPr lang="fr-CA" dirty="0">
                <a:latin typeface="Arial Narrow" panose="020B0606020202030204" pitchFamily="34" charset="0"/>
              </a:rPr>
              <a:t> et rigide imprégnée de </a:t>
            </a:r>
            <a:r>
              <a:rPr lang="fr-CA" b="1" dirty="0">
                <a:latin typeface="Arial Narrow" panose="020B0606020202030204" pitchFamily="34" charset="0"/>
              </a:rPr>
              <a:t>lignine</a:t>
            </a:r>
            <a:r>
              <a:rPr lang="fr-CA" dirty="0">
                <a:latin typeface="Arial Narrow" panose="020B0606020202030204" pitchFamily="34" charset="0"/>
              </a:rPr>
              <a:t>.</a:t>
            </a:r>
          </a:p>
          <a:p>
            <a:pPr algn="just">
              <a:spcBef>
                <a:spcPct val="50000"/>
              </a:spcBef>
              <a:buFontTx/>
              <a:buChar char="•"/>
            </a:pPr>
            <a:r>
              <a:rPr lang="fr-CA" b="1" dirty="0">
                <a:latin typeface="Arial Narrow" panose="020B0606020202030204" pitchFamily="34" charset="0"/>
              </a:rPr>
              <a:t>Rigides</a:t>
            </a:r>
            <a:r>
              <a:rPr lang="fr-CA" dirty="0">
                <a:latin typeface="Arial Narrow" panose="020B0606020202030204" pitchFamily="34" charset="0"/>
              </a:rPr>
              <a:t>, ne peuvent pas croître.</a:t>
            </a:r>
          </a:p>
          <a:p>
            <a:pPr algn="just">
              <a:spcBef>
                <a:spcPct val="50000"/>
              </a:spcBef>
              <a:buFontTx/>
              <a:buChar char="•"/>
            </a:pPr>
            <a:r>
              <a:rPr lang="fr-CA" dirty="0">
                <a:latin typeface="Arial Narrow" panose="020B0606020202030204" pitchFamily="34" charset="0"/>
              </a:rPr>
              <a:t>Cellules </a:t>
            </a:r>
            <a:r>
              <a:rPr lang="fr-CA" b="1" dirty="0">
                <a:latin typeface="Arial Narrow" panose="020B0606020202030204" pitchFamily="34" charset="0"/>
              </a:rPr>
              <a:t>mortes</a:t>
            </a:r>
            <a:r>
              <a:rPr lang="fr-CA" dirty="0">
                <a:latin typeface="Arial Narrow" panose="020B0606020202030204" pitchFamily="34" charset="0"/>
              </a:rPr>
              <a:t> à maturité.</a:t>
            </a:r>
          </a:p>
        </p:txBody>
      </p:sp>
      <p:sp>
        <p:nvSpPr>
          <p:cNvPr id="102404" name="Text Box 5"/>
          <p:cNvSpPr txBox="1">
            <a:spLocks noChangeArrowheads="1"/>
          </p:cNvSpPr>
          <p:nvPr/>
        </p:nvSpPr>
        <p:spPr bwMode="auto">
          <a:xfrm>
            <a:off x="374650" y="242888"/>
            <a:ext cx="4868863"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2.3 Le sclérenchyme</a:t>
            </a:r>
          </a:p>
        </p:txBody>
      </p:sp>
      <p:sp>
        <p:nvSpPr>
          <p:cNvPr id="102405" name="ZoneTexte 5"/>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292693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484">
                                            <p:txEl>
                                              <p:pRg st="0" end="0"/>
                                            </p:txEl>
                                          </p:spTgt>
                                        </p:tgtEl>
                                        <p:attrNameLst>
                                          <p:attrName>style.visibility</p:attrName>
                                        </p:attrNameLst>
                                      </p:cBhvr>
                                      <p:to>
                                        <p:strVal val="visible"/>
                                      </p:to>
                                    </p:set>
                                    <p:anim calcmode="lin" valueType="num">
                                      <p:cBhvr additive="base">
                                        <p:cTn id="7" dur="500" fill="hold"/>
                                        <p:tgtEl>
                                          <p:spTgt spid="14848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848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8484">
                                            <p:txEl>
                                              <p:pRg st="1" end="1"/>
                                            </p:txEl>
                                          </p:spTgt>
                                        </p:tgtEl>
                                        <p:attrNameLst>
                                          <p:attrName>style.visibility</p:attrName>
                                        </p:attrNameLst>
                                      </p:cBhvr>
                                      <p:to>
                                        <p:strVal val="visible"/>
                                      </p:to>
                                    </p:set>
                                    <p:anim calcmode="lin" valueType="num">
                                      <p:cBhvr additive="base">
                                        <p:cTn id="13" dur="500" fill="hold"/>
                                        <p:tgtEl>
                                          <p:spTgt spid="14848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848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8484">
                                            <p:txEl>
                                              <p:pRg st="2" end="2"/>
                                            </p:txEl>
                                          </p:spTgt>
                                        </p:tgtEl>
                                        <p:attrNameLst>
                                          <p:attrName>style.visibility</p:attrName>
                                        </p:attrNameLst>
                                      </p:cBhvr>
                                      <p:to>
                                        <p:strVal val="visible"/>
                                      </p:to>
                                    </p:set>
                                    <p:anim calcmode="lin" valueType="num">
                                      <p:cBhvr additive="base">
                                        <p:cTn id="19" dur="500" fill="hold"/>
                                        <p:tgtEl>
                                          <p:spTgt spid="148484">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848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8484">
                                            <p:txEl>
                                              <p:pRg st="3" end="3"/>
                                            </p:txEl>
                                          </p:spTgt>
                                        </p:tgtEl>
                                        <p:attrNameLst>
                                          <p:attrName>style.visibility</p:attrName>
                                        </p:attrNameLst>
                                      </p:cBhvr>
                                      <p:to>
                                        <p:strVal val="visible"/>
                                      </p:to>
                                    </p:set>
                                    <p:anim calcmode="lin" valueType="num">
                                      <p:cBhvr additive="base">
                                        <p:cTn id="25" dur="500" fill="hold"/>
                                        <p:tgtEl>
                                          <p:spTgt spid="148484">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848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8484">
                                            <p:txEl>
                                              <p:pRg st="4" end="4"/>
                                            </p:txEl>
                                          </p:spTgt>
                                        </p:tgtEl>
                                        <p:attrNameLst>
                                          <p:attrName>style.visibility</p:attrName>
                                        </p:attrNameLst>
                                      </p:cBhvr>
                                      <p:to>
                                        <p:strVal val="visible"/>
                                      </p:to>
                                    </p:set>
                                    <p:anim calcmode="lin" valueType="num">
                                      <p:cBhvr additive="base">
                                        <p:cTn id="31" dur="500" fill="hold"/>
                                        <p:tgtEl>
                                          <p:spTgt spid="148484">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848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5" name="Picture 2" descr="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500" y="322263"/>
            <a:ext cx="5113338" cy="36449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03426" name="Text Box 3"/>
          <p:cNvSpPr txBox="1">
            <a:spLocks noChangeArrowheads="1"/>
          </p:cNvSpPr>
          <p:nvPr/>
        </p:nvSpPr>
        <p:spPr bwMode="auto">
          <a:xfrm>
            <a:off x="176213" y="506413"/>
            <a:ext cx="3613150"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CA" dirty="0">
                <a:latin typeface="Arial Narrow" panose="020B0606020202030204" pitchFamily="34" charset="0"/>
              </a:rPr>
              <a:t>Les cellules du sclérenchyme sont souvent regroupées en faisceaux formant des </a:t>
            </a:r>
            <a:r>
              <a:rPr lang="fr-CA" b="1" dirty="0">
                <a:latin typeface="Arial Narrow" panose="020B0606020202030204" pitchFamily="34" charset="0"/>
              </a:rPr>
              <a:t>fibres végétales</a:t>
            </a:r>
          </a:p>
        </p:txBody>
      </p:sp>
      <p:pic>
        <p:nvPicPr>
          <p:cNvPr id="103427" name="Picture 4" descr="fibresscler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575" y="2824163"/>
            <a:ext cx="1892300" cy="3479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3428" name="Text Box 5"/>
          <p:cNvSpPr txBox="1">
            <a:spLocks noChangeArrowheads="1"/>
          </p:cNvSpPr>
          <p:nvPr/>
        </p:nvSpPr>
        <p:spPr bwMode="auto">
          <a:xfrm>
            <a:off x="3260725" y="5100638"/>
            <a:ext cx="3965575" cy="831850"/>
          </a:xfrm>
          <a:prstGeom prst="rect">
            <a:avLst/>
          </a:prstGeom>
          <a:solidFill>
            <a:srgbClr val="F5FAE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a:solidFill>
                  <a:srgbClr val="000000"/>
                </a:solidFill>
              </a:rPr>
              <a:t>Chaque cellule peut avoir plusieurs mm de longueur</a:t>
            </a:r>
          </a:p>
        </p:txBody>
      </p:sp>
      <p:sp>
        <p:nvSpPr>
          <p:cNvPr id="149510" name="Oval 6"/>
          <p:cNvSpPr>
            <a:spLocks noChangeArrowheads="1"/>
          </p:cNvSpPr>
          <p:nvPr/>
        </p:nvSpPr>
        <p:spPr bwMode="auto">
          <a:xfrm>
            <a:off x="4060825" y="376238"/>
            <a:ext cx="3163888" cy="2797175"/>
          </a:xfrm>
          <a:prstGeom prst="ellipse">
            <a:avLst/>
          </a:prstGeom>
          <a:noFill/>
          <a:ln w="38100" algn="ctr">
            <a:solidFill>
              <a:srgbClr val="FF3300"/>
            </a:solidFill>
            <a:round/>
            <a:headEnd/>
            <a:tailEnd/>
          </a:ln>
          <a:effectLst>
            <a:outerShdw dist="35921" dir="2700000" algn="ctr" rotWithShape="0">
              <a:schemeClr val="tx1"/>
            </a:outerShdw>
          </a:effectLst>
        </p:spPr>
        <p:txBody>
          <a:bodyPr wrap="none" anchor="ctr">
            <a:spAutoFit/>
          </a:bodyPr>
          <a:lstStyle/>
          <a:p>
            <a:pPr>
              <a:defRPr/>
            </a:pPr>
            <a:endParaRPr lang="fr-FR">
              <a:ea typeface="+mn-ea"/>
              <a:cs typeface="+mn-cs"/>
            </a:endParaRPr>
          </a:p>
        </p:txBody>
      </p:sp>
      <p:sp>
        <p:nvSpPr>
          <p:cNvPr id="103430" name="Line 7"/>
          <p:cNvSpPr>
            <a:spLocks noChangeShapeType="1"/>
          </p:cNvSpPr>
          <p:nvPr/>
        </p:nvSpPr>
        <p:spPr bwMode="auto">
          <a:xfrm flipH="1">
            <a:off x="2851150" y="2519363"/>
            <a:ext cx="1433513" cy="1003300"/>
          </a:xfrm>
          <a:prstGeom prst="line">
            <a:avLst/>
          </a:prstGeom>
          <a:noFill/>
          <a:ln w="38100">
            <a:solidFill>
              <a:srgbClr val="FF3300"/>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03431" name="ZoneTexte 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609161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49" name="Picture 2" descr="l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50" y="4333875"/>
            <a:ext cx="1812925" cy="205422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04450" name="Text Box 3"/>
          <p:cNvSpPr txBox="1">
            <a:spLocks noChangeArrowheads="1"/>
          </p:cNvSpPr>
          <p:nvPr/>
        </p:nvSpPr>
        <p:spPr bwMode="auto">
          <a:xfrm>
            <a:off x="5481638" y="5748338"/>
            <a:ext cx="2632075" cy="65087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b="1">
                <a:solidFill>
                  <a:srgbClr val="000000"/>
                </a:solidFill>
              </a:rPr>
              <a:t>Fibres de lin </a:t>
            </a:r>
            <a:br>
              <a:rPr lang="fr-CA" sz="1800" b="1">
                <a:solidFill>
                  <a:srgbClr val="000000"/>
                </a:solidFill>
              </a:rPr>
            </a:br>
            <a:r>
              <a:rPr lang="fr-CA" sz="1800" b="1">
                <a:solidFill>
                  <a:srgbClr val="000000"/>
                </a:solidFill>
              </a:rPr>
              <a:t>(</a:t>
            </a:r>
            <a:r>
              <a:rPr lang="fr-CA" sz="1800" b="1" i="1">
                <a:solidFill>
                  <a:srgbClr val="000000"/>
                </a:solidFill>
              </a:rPr>
              <a:t>Linum usitatissimum</a:t>
            </a:r>
            <a:r>
              <a:rPr lang="fr-CA" sz="1800" b="1">
                <a:solidFill>
                  <a:srgbClr val="000000"/>
                </a:solidFill>
              </a:rPr>
              <a:t>)</a:t>
            </a:r>
          </a:p>
        </p:txBody>
      </p:sp>
      <p:pic>
        <p:nvPicPr>
          <p:cNvPr id="104451" name="Picture 4" descr="lin_tige"/>
          <p:cNvPicPr>
            <a:picLocks noChangeAspect="1" noChangeArrowheads="1"/>
          </p:cNvPicPr>
          <p:nvPr/>
        </p:nvPicPr>
        <p:blipFill>
          <a:blip r:embed="rId3">
            <a:lum contrast="12000"/>
            <a:extLst>
              <a:ext uri="{28A0092B-C50C-407E-A947-70E740481C1C}">
                <a14:useLocalDpi xmlns:a14="http://schemas.microsoft.com/office/drawing/2010/main" val="0"/>
              </a:ext>
            </a:extLst>
          </a:blip>
          <a:srcRect/>
          <a:stretch>
            <a:fillRect/>
          </a:stretch>
        </p:blipFill>
        <p:spPr bwMode="auto">
          <a:xfrm>
            <a:off x="4057650" y="374650"/>
            <a:ext cx="3086100" cy="206375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04452" name="Text Box 5"/>
          <p:cNvSpPr txBox="1">
            <a:spLocks noChangeArrowheads="1"/>
          </p:cNvSpPr>
          <p:nvPr/>
        </p:nvSpPr>
        <p:spPr bwMode="auto">
          <a:xfrm>
            <a:off x="379413" y="6381750"/>
            <a:ext cx="2301875" cy="366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b="1" i="1"/>
              <a:t>Linum </a:t>
            </a:r>
            <a:r>
              <a:rPr lang="fr-CA" sz="1600" b="1" i="1"/>
              <a:t>usitatissimum</a:t>
            </a:r>
            <a:endParaRPr lang="fr-CA" sz="1600" b="1"/>
          </a:p>
        </p:txBody>
      </p:sp>
      <p:pic>
        <p:nvPicPr>
          <p:cNvPr id="104453" name="Picture 6" descr="lin_tige2"/>
          <p:cNvPicPr>
            <a:picLocks noChangeAspect="1" noChangeArrowheads="1"/>
          </p:cNvPicPr>
          <p:nvPr/>
        </p:nvPicPr>
        <p:blipFill>
          <a:blip r:embed="rId4">
            <a:clrChange>
              <a:clrFrom>
                <a:srgbClr val="E4E4E4"/>
              </a:clrFrom>
              <a:clrTo>
                <a:srgbClr val="E4E4E4">
                  <a:alpha val="0"/>
                </a:srgbClr>
              </a:clrTo>
            </a:clrChange>
            <a:extLst>
              <a:ext uri="{28A0092B-C50C-407E-A947-70E740481C1C}">
                <a14:useLocalDpi xmlns:a14="http://schemas.microsoft.com/office/drawing/2010/main" val="0"/>
              </a:ext>
            </a:extLst>
          </a:blip>
          <a:srcRect/>
          <a:stretch>
            <a:fillRect/>
          </a:stretch>
        </p:blipFill>
        <p:spPr bwMode="auto">
          <a:xfrm>
            <a:off x="301625" y="142875"/>
            <a:ext cx="2520950" cy="28035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4454" name="Picture 7" descr="lin_plant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175" y="3328988"/>
            <a:ext cx="2274888" cy="31226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0536" name="Rectangle 8"/>
          <p:cNvSpPr>
            <a:spLocks noChangeArrowheads="1"/>
          </p:cNvSpPr>
          <p:nvPr/>
        </p:nvSpPr>
        <p:spPr bwMode="auto">
          <a:xfrm>
            <a:off x="1908175" y="1154113"/>
            <a:ext cx="950913" cy="630237"/>
          </a:xfrm>
          <a:prstGeom prst="rect">
            <a:avLst/>
          </a:prstGeom>
          <a:noFill/>
          <a:ln w="38100" algn="ctr">
            <a:solidFill>
              <a:srgbClr val="FF3300"/>
            </a:solidFill>
            <a:miter lim="800000"/>
            <a:headEnd/>
            <a:tailEnd/>
          </a:ln>
          <a:effectLst>
            <a:outerShdw dist="35921" dir="2700000" algn="ctr" rotWithShape="0">
              <a:schemeClr val="tx1"/>
            </a:outerShdw>
          </a:effectLst>
        </p:spPr>
        <p:txBody>
          <a:bodyPr wrap="none" anchor="ctr">
            <a:spAutoFit/>
          </a:bodyPr>
          <a:lstStyle/>
          <a:p>
            <a:pPr>
              <a:defRPr/>
            </a:pPr>
            <a:endParaRPr lang="fr-FR">
              <a:ea typeface="+mn-ea"/>
              <a:cs typeface="+mn-cs"/>
            </a:endParaRPr>
          </a:p>
        </p:txBody>
      </p:sp>
      <p:pic>
        <p:nvPicPr>
          <p:cNvPr id="104456" name="Picture 9" descr="lin_tige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9913" y="2024063"/>
            <a:ext cx="2030412" cy="30480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04457" name="Line 10"/>
          <p:cNvSpPr>
            <a:spLocks noChangeShapeType="1"/>
          </p:cNvSpPr>
          <p:nvPr/>
        </p:nvSpPr>
        <p:spPr bwMode="auto">
          <a:xfrm flipV="1">
            <a:off x="6397625" y="3416300"/>
            <a:ext cx="1204913" cy="28575"/>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04458" name="Text Box 11"/>
          <p:cNvSpPr txBox="1">
            <a:spLocks noChangeArrowheads="1"/>
          </p:cNvSpPr>
          <p:nvPr/>
        </p:nvSpPr>
        <p:spPr bwMode="auto">
          <a:xfrm>
            <a:off x="3330575" y="3087688"/>
            <a:ext cx="3055938" cy="650875"/>
          </a:xfrm>
          <a:prstGeom prst="rect">
            <a:avLst/>
          </a:prstGeom>
          <a:solidFill>
            <a:srgbClr val="F5FAE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b="1">
                <a:solidFill>
                  <a:srgbClr val="000000"/>
                </a:solidFill>
              </a:rPr>
              <a:t>Sclérenchyme formant les fibres de la tige du lin</a:t>
            </a:r>
          </a:p>
        </p:txBody>
      </p:sp>
      <p:sp>
        <p:nvSpPr>
          <p:cNvPr id="150540" name="Rectangle 12"/>
          <p:cNvSpPr>
            <a:spLocks noChangeArrowheads="1"/>
          </p:cNvSpPr>
          <p:nvPr/>
        </p:nvSpPr>
        <p:spPr bwMode="auto">
          <a:xfrm>
            <a:off x="6218238" y="795338"/>
            <a:ext cx="739775" cy="1106487"/>
          </a:xfrm>
          <a:prstGeom prst="rect">
            <a:avLst/>
          </a:prstGeom>
          <a:noFill/>
          <a:ln w="38100" algn="ctr">
            <a:solidFill>
              <a:srgbClr val="FF3300"/>
            </a:solidFill>
            <a:miter lim="800000"/>
            <a:headEnd/>
            <a:tailEnd/>
          </a:ln>
          <a:effectLst>
            <a:outerShdw dist="35921" dir="2700000" algn="ctr" rotWithShape="0">
              <a:schemeClr val="tx1"/>
            </a:outerShdw>
          </a:effectLst>
        </p:spPr>
        <p:txBody>
          <a:bodyPr wrap="none" anchor="ctr">
            <a:spAutoFit/>
          </a:bodyPr>
          <a:lstStyle/>
          <a:p>
            <a:pPr>
              <a:defRPr/>
            </a:pPr>
            <a:endParaRPr lang="fr-FR">
              <a:ea typeface="+mn-ea"/>
              <a:cs typeface="+mn-cs"/>
            </a:endParaRPr>
          </a:p>
        </p:txBody>
      </p:sp>
      <p:sp>
        <p:nvSpPr>
          <p:cNvPr id="150541" name="Freeform 13"/>
          <p:cNvSpPr>
            <a:spLocks/>
          </p:cNvSpPr>
          <p:nvPr/>
        </p:nvSpPr>
        <p:spPr bwMode="auto">
          <a:xfrm>
            <a:off x="6967538" y="1563688"/>
            <a:ext cx="612775" cy="357187"/>
          </a:xfrm>
          <a:custGeom>
            <a:avLst/>
            <a:gdLst>
              <a:gd name="T0" fmla="*/ 0 w 386"/>
              <a:gd name="T1" fmla="*/ 0 h 576"/>
              <a:gd name="T2" fmla="*/ 386 w 386"/>
              <a:gd name="T3" fmla="*/ 0 h 576"/>
              <a:gd name="T4" fmla="*/ 386 w 386"/>
              <a:gd name="T5" fmla="*/ 576 h 576"/>
              <a:gd name="T6" fmla="*/ 0 60000 65536"/>
              <a:gd name="T7" fmla="*/ 0 60000 65536"/>
              <a:gd name="T8" fmla="*/ 0 60000 65536"/>
              <a:gd name="T9" fmla="*/ 0 w 386"/>
              <a:gd name="T10" fmla="*/ 0 h 576"/>
              <a:gd name="T11" fmla="*/ 386 w 386"/>
              <a:gd name="T12" fmla="*/ 576 h 576"/>
            </a:gdLst>
            <a:ahLst/>
            <a:cxnLst>
              <a:cxn ang="T6">
                <a:pos x="T0" y="T1"/>
              </a:cxn>
              <a:cxn ang="T7">
                <a:pos x="T2" y="T3"/>
              </a:cxn>
              <a:cxn ang="T8">
                <a:pos x="T4" y="T5"/>
              </a:cxn>
            </a:cxnLst>
            <a:rect l="T9" t="T10" r="T11" b="T12"/>
            <a:pathLst>
              <a:path w="386" h="576">
                <a:moveTo>
                  <a:pt x="0" y="0"/>
                </a:moveTo>
                <a:lnTo>
                  <a:pt x="386" y="0"/>
                </a:lnTo>
                <a:lnTo>
                  <a:pt x="386" y="576"/>
                </a:lnTo>
              </a:path>
            </a:pathLst>
          </a:custGeom>
          <a:noFill/>
          <a:ln w="38100" cap="flat" cmpd="sng">
            <a:solidFill>
              <a:srgbClr val="FF3300"/>
            </a:solidFill>
            <a:prstDash val="solid"/>
            <a:round/>
            <a:headEnd type="none" w="med" len="med"/>
            <a:tailEnd type="triangle" w="med" len="med"/>
          </a:ln>
          <a:effectLst>
            <a:outerShdw blurRad="63500" dist="35921" dir="2700000" algn="ctr" rotWithShape="0">
              <a:schemeClr val="tx1"/>
            </a:outerShdw>
          </a:effectLst>
          <a:extLst>
            <a:ext uri="{909E8E84-426E-40dd-AFC4-6F175D3DCCD1}">
              <a14:hiddenFill xmlns="" xmlns:a14="http://schemas.microsoft.com/office/drawing/2010/main">
                <a:solidFill>
                  <a:srgbClr val="FFFFFF"/>
                </a:solidFill>
              </a14:hiddenFill>
            </a:ext>
          </a:extLst>
        </p:spPr>
        <p:txBody>
          <a:bodyPr>
            <a:spAutoFit/>
          </a:bodyPr>
          <a:lstStyle/>
          <a:p>
            <a:pPr>
              <a:defRPr/>
            </a:pPr>
            <a:endParaRPr lang="fr-FR">
              <a:cs typeface="+mn-cs"/>
            </a:endParaRPr>
          </a:p>
        </p:txBody>
      </p:sp>
      <p:sp>
        <p:nvSpPr>
          <p:cNvPr id="150542" name="Line 14"/>
          <p:cNvSpPr>
            <a:spLocks noChangeShapeType="1"/>
          </p:cNvSpPr>
          <p:nvPr/>
        </p:nvSpPr>
        <p:spPr bwMode="auto">
          <a:xfrm>
            <a:off x="2851150" y="1466850"/>
            <a:ext cx="1171575" cy="1588"/>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04462" name="ZoneTexte 14"/>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4347252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Picture 2" descr="sisal"/>
          <p:cNvPicPr>
            <a:picLocks noChangeAspect="1" noChangeArrowheads="1"/>
          </p:cNvPicPr>
          <p:nvPr/>
        </p:nvPicPr>
        <p:blipFill>
          <a:blip r:embed="rId2">
            <a:extLst>
              <a:ext uri="{28A0092B-C50C-407E-A947-70E740481C1C}">
                <a14:useLocalDpi xmlns:a14="http://schemas.microsoft.com/office/drawing/2010/main" val="0"/>
              </a:ext>
            </a:extLst>
          </a:blip>
          <a:srcRect t="1743"/>
          <a:stretch>
            <a:fillRect/>
          </a:stretch>
        </p:blipFill>
        <p:spPr bwMode="auto">
          <a:xfrm>
            <a:off x="481013" y="179388"/>
            <a:ext cx="3532187" cy="54991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05474" name="Picture 3" descr="sisal_rop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6413" y="374650"/>
            <a:ext cx="2616200" cy="2781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5475" name="Text Box 4"/>
          <p:cNvSpPr txBox="1">
            <a:spLocks noChangeArrowheads="1"/>
          </p:cNvSpPr>
          <p:nvPr/>
        </p:nvSpPr>
        <p:spPr bwMode="auto">
          <a:xfrm>
            <a:off x="4276725" y="4706938"/>
            <a:ext cx="3648075" cy="376237"/>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800" b="1">
                <a:solidFill>
                  <a:srgbClr val="000000"/>
                </a:solidFill>
              </a:rPr>
              <a:t>Fibres de sisal (</a:t>
            </a:r>
            <a:r>
              <a:rPr lang="fr-CA" sz="1800" b="1" i="1">
                <a:solidFill>
                  <a:srgbClr val="000000"/>
                </a:solidFill>
              </a:rPr>
              <a:t>Agava sisalana</a:t>
            </a:r>
            <a:r>
              <a:rPr lang="fr-CA" sz="1800" b="1">
                <a:solidFill>
                  <a:srgbClr val="000000"/>
                </a:solidFill>
              </a:rPr>
              <a:t>)</a:t>
            </a:r>
          </a:p>
        </p:txBody>
      </p:sp>
      <p:sp>
        <p:nvSpPr>
          <p:cNvPr id="105476" name="ZoneTexte 4"/>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29185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ext Box 2"/>
          <p:cNvSpPr txBox="1">
            <a:spLocks noChangeArrowheads="1"/>
          </p:cNvSpPr>
          <p:nvPr/>
        </p:nvSpPr>
        <p:spPr bwMode="auto">
          <a:xfrm>
            <a:off x="250825" y="322263"/>
            <a:ext cx="7767638"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3. Le tissu de revêtement</a:t>
            </a:r>
          </a:p>
        </p:txBody>
      </p:sp>
      <p:pic>
        <p:nvPicPr>
          <p:cNvPr id="106498" name="Picture 3" descr="cuticulefeuil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550" y="3736975"/>
            <a:ext cx="3095625" cy="2336800"/>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06499" name="Picture 4" descr="Epidermisperiderm"/>
          <p:cNvPicPr>
            <a:picLocks noChangeAspect="1" noChangeArrowheads="1"/>
          </p:cNvPicPr>
          <p:nvPr/>
        </p:nvPicPr>
        <p:blipFill>
          <a:blip r:embed="rId3">
            <a:lum contrast="12000"/>
            <a:extLst>
              <a:ext uri="{28A0092B-C50C-407E-A947-70E740481C1C}">
                <a14:useLocalDpi xmlns:a14="http://schemas.microsoft.com/office/drawing/2010/main" val="0"/>
              </a:ext>
            </a:extLst>
          </a:blip>
          <a:srcRect/>
          <a:stretch>
            <a:fillRect/>
          </a:stretch>
        </p:blipFill>
        <p:spPr bwMode="auto">
          <a:xfrm>
            <a:off x="5834063" y="3819525"/>
            <a:ext cx="2744787" cy="219551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06500" name="Text Box 5"/>
          <p:cNvSpPr txBox="1">
            <a:spLocks noChangeArrowheads="1"/>
          </p:cNvSpPr>
          <p:nvPr/>
        </p:nvSpPr>
        <p:spPr bwMode="auto">
          <a:xfrm>
            <a:off x="3948113" y="4525963"/>
            <a:ext cx="1096962" cy="34607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épiderme</a:t>
            </a:r>
          </a:p>
        </p:txBody>
      </p:sp>
      <p:sp>
        <p:nvSpPr>
          <p:cNvPr id="106501" name="Text Box 6"/>
          <p:cNvSpPr txBox="1">
            <a:spLocks noChangeArrowheads="1"/>
          </p:cNvSpPr>
          <p:nvPr/>
        </p:nvSpPr>
        <p:spPr bwMode="auto">
          <a:xfrm>
            <a:off x="3922713" y="3843338"/>
            <a:ext cx="962025" cy="34607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cuticule</a:t>
            </a:r>
          </a:p>
        </p:txBody>
      </p:sp>
      <p:sp>
        <p:nvSpPr>
          <p:cNvPr id="106502" name="Text Box 7"/>
          <p:cNvSpPr txBox="1">
            <a:spLocks noChangeArrowheads="1"/>
          </p:cNvSpPr>
          <p:nvPr/>
        </p:nvSpPr>
        <p:spPr bwMode="auto">
          <a:xfrm>
            <a:off x="1377950" y="6173788"/>
            <a:ext cx="838200" cy="34607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Feuille</a:t>
            </a:r>
          </a:p>
        </p:txBody>
      </p:sp>
      <p:sp>
        <p:nvSpPr>
          <p:cNvPr id="106503" name="Text Box 8"/>
          <p:cNvSpPr txBox="1">
            <a:spLocks noChangeArrowheads="1"/>
          </p:cNvSpPr>
          <p:nvPr/>
        </p:nvSpPr>
        <p:spPr bwMode="auto">
          <a:xfrm>
            <a:off x="6659563" y="6165850"/>
            <a:ext cx="1471612" cy="346075"/>
          </a:xfrm>
          <a:prstGeom prst="rect">
            <a:avLst/>
          </a:prstGeom>
          <a:solidFill>
            <a:srgbClr val="F5FAE8"/>
          </a:solidFill>
          <a:ln w="9525">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Tige primaire</a:t>
            </a:r>
          </a:p>
        </p:txBody>
      </p:sp>
      <p:sp>
        <p:nvSpPr>
          <p:cNvPr id="106504" name="Line 9"/>
          <p:cNvSpPr>
            <a:spLocks noChangeShapeType="1"/>
          </p:cNvSpPr>
          <p:nvPr/>
        </p:nvSpPr>
        <p:spPr bwMode="auto">
          <a:xfrm flipH="1">
            <a:off x="3371850" y="3998913"/>
            <a:ext cx="550863" cy="452437"/>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06505" name="Line 10"/>
          <p:cNvSpPr>
            <a:spLocks noChangeShapeType="1"/>
          </p:cNvSpPr>
          <p:nvPr/>
        </p:nvSpPr>
        <p:spPr bwMode="auto">
          <a:xfrm>
            <a:off x="4876800" y="4016375"/>
            <a:ext cx="1454150" cy="474663"/>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06506" name="Line 11"/>
          <p:cNvSpPr>
            <a:spLocks noChangeShapeType="1"/>
          </p:cNvSpPr>
          <p:nvPr/>
        </p:nvSpPr>
        <p:spPr bwMode="auto">
          <a:xfrm flipH="1" flipV="1">
            <a:off x="3367088" y="4635500"/>
            <a:ext cx="571500" cy="74613"/>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06507" name="Line 12"/>
          <p:cNvSpPr>
            <a:spLocks noChangeShapeType="1"/>
          </p:cNvSpPr>
          <p:nvPr/>
        </p:nvSpPr>
        <p:spPr bwMode="auto">
          <a:xfrm>
            <a:off x="5048250" y="4705350"/>
            <a:ext cx="882650" cy="166688"/>
          </a:xfrm>
          <a:prstGeom prst="line">
            <a:avLst/>
          </a:prstGeom>
          <a:noFill/>
          <a:ln w="28575">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53613" name="Text Box 13"/>
          <p:cNvSpPr txBox="1">
            <a:spLocks noChangeArrowheads="1"/>
          </p:cNvSpPr>
          <p:nvPr/>
        </p:nvSpPr>
        <p:spPr bwMode="auto">
          <a:xfrm>
            <a:off x="517525" y="2332038"/>
            <a:ext cx="7821613"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363538" indent="-363538"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dirty="0">
                <a:latin typeface="Arial Narrow" panose="020B0606020202030204" pitchFamily="34" charset="0"/>
              </a:rPr>
              <a:t>Épiderme</a:t>
            </a:r>
            <a:r>
              <a:rPr lang="fr-CA" dirty="0">
                <a:latin typeface="Arial Narrow" panose="020B0606020202030204" pitchFamily="34" charset="0"/>
              </a:rPr>
              <a:t> : généralement une seule couche de cellules.</a:t>
            </a:r>
          </a:p>
          <a:p>
            <a:pPr eaLnBrk="1" hangingPunct="1">
              <a:spcBef>
                <a:spcPct val="50000"/>
              </a:spcBef>
            </a:pPr>
            <a:r>
              <a:rPr lang="fr-CA" dirty="0">
                <a:latin typeface="Arial Narrow" panose="020B0606020202030204" pitchFamily="34" charset="0"/>
              </a:rPr>
              <a:t>Souvent recouvert d’une cuticule imperméable.</a:t>
            </a:r>
          </a:p>
        </p:txBody>
      </p:sp>
      <p:sp>
        <p:nvSpPr>
          <p:cNvPr id="153614" name="Text Box 14"/>
          <p:cNvSpPr txBox="1">
            <a:spLocks noChangeArrowheads="1"/>
          </p:cNvSpPr>
          <p:nvPr/>
        </p:nvSpPr>
        <p:spPr bwMode="auto">
          <a:xfrm>
            <a:off x="250825" y="1164491"/>
            <a:ext cx="6027738"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CA" dirty="0">
                <a:latin typeface="Arial Narrow" panose="020B0606020202030204" pitchFamily="34" charset="0"/>
              </a:rPr>
              <a:t>Formé d’un</a:t>
            </a:r>
            <a:r>
              <a:rPr lang="fr-CA" dirty="0">
                <a:solidFill>
                  <a:srgbClr val="FFFF00"/>
                </a:solidFill>
                <a:latin typeface="Arial Narrow" panose="020B0606020202030204" pitchFamily="34" charset="0"/>
              </a:rPr>
              <a:t> </a:t>
            </a:r>
            <a:r>
              <a:rPr lang="fr-CA" b="1" dirty="0">
                <a:latin typeface="Arial Narrow" panose="020B0606020202030204" pitchFamily="34" charset="0"/>
              </a:rPr>
              <a:t>épiderme</a:t>
            </a:r>
            <a:r>
              <a:rPr lang="fr-CA" dirty="0">
                <a:latin typeface="Arial Narrow" panose="020B0606020202030204" pitchFamily="34" charset="0"/>
              </a:rPr>
              <a:t> recouvrant les jeunes tiges, les jeunes racines et les feuilles</a:t>
            </a:r>
          </a:p>
        </p:txBody>
      </p:sp>
      <p:sp>
        <p:nvSpPr>
          <p:cNvPr id="106510" name="Text Box 15"/>
          <p:cNvSpPr txBox="1">
            <a:spLocks noChangeArrowheads="1"/>
          </p:cNvSpPr>
          <p:nvPr/>
        </p:nvSpPr>
        <p:spPr bwMode="auto">
          <a:xfrm>
            <a:off x="6100763" y="119063"/>
            <a:ext cx="2844800" cy="1446212"/>
          </a:xfrm>
          <a:prstGeom prst="rect">
            <a:avLst/>
          </a:prstGeom>
          <a:solidFill>
            <a:schemeClr val="bg1"/>
          </a:solidFill>
          <a:ln w="9525">
            <a:solidFill>
              <a:schemeClr val="tx1"/>
            </a:solidFill>
            <a:miter lim="800000"/>
            <a:headEnd/>
            <a:tailEnd/>
          </a:ln>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AutoNum type="arabicPeriod"/>
            </a:pPr>
            <a:r>
              <a:rPr lang="fr-CA" sz="1600" b="1">
                <a:solidFill>
                  <a:srgbClr val="C0C0C0"/>
                </a:solidFill>
              </a:rPr>
              <a:t>Méristèmes</a:t>
            </a:r>
          </a:p>
          <a:p>
            <a:pPr eaLnBrk="1" hangingPunct="1">
              <a:spcBef>
                <a:spcPct val="50000"/>
              </a:spcBef>
              <a:buFontTx/>
              <a:buAutoNum type="arabicPeriod"/>
            </a:pPr>
            <a:r>
              <a:rPr lang="fr-CA" sz="1600" b="1">
                <a:solidFill>
                  <a:srgbClr val="C0C0C0"/>
                </a:solidFill>
              </a:rPr>
              <a:t>Tissus fondamentaux</a:t>
            </a:r>
          </a:p>
          <a:p>
            <a:pPr eaLnBrk="1" hangingPunct="1">
              <a:spcBef>
                <a:spcPct val="50000"/>
              </a:spcBef>
              <a:buFontTx/>
              <a:buAutoNum type="arabicPeriod"/>
            </a:pPr>
            <a:r>
              <a:rPr lang="fr-CA" sz="1600" b="1">
                <a:solidFill>
                  <a:srgbClr val="CC3300"/>
                </a:solidFill>
              </a:rPr>
              <a:t>Tissus de revêtement</a:t>
            </a:r>
          </a:p>
          <a:p>
            <a:pPr eaLnBrk="1" hangingPunct="1">
              <a:spcBef>
                <a:spcPct val="50000"/>
              </a:spcBef>
              <a:buFontTx/>
              <a:buAutoNum type="arabicPeriod"/>
            </a:pPr>
            <a:r>
              <a:rPr lang="fr-CA" sz="1600" b="1">
                <a:solidFill>
                  <a:srgbClr val="C0C0C0"/>
                </a:solidFill>
              </a:rPr>
              <a:t>Tissus vasculaires</a:t>
            </a:r>
          </a:p>
        </p:txBody>
      </p:sp>
      <p:sp>
        <p:nvSpPr>
          <p:cNvPr id="106511" name="ZoneTexte 16"/>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47214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3614">
                                            <p:txEl>
                                              <p:pRg st="0" end="0"/>
                                            </p:txEl>
                                          </p:spTgt>
                                        </p:tgtEl>
                                        <p:attrNameLst>
                                          <p:attrName>style.visibility</p:attrName>
                                        </p:attrNameLst>
                                      </p:cBhvr>
                                      <p:to>
                                        <p:strVal val="visible"/>
                                      </p:to>
                                    </p:set>
                                    <p:animEffect transition="in" filter="checkerboard(across)">
                                      <p:cBhvr>
                                        <p:cTn id="7" dur="500"/>
                                        <p:tgtEl>
                                          <p:spTgt spid="15361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3613"/>
                                        </p:tgtEl>
                                        <p:attrNameLst>
                                          <p:attrName>style.visibility</p:attrName>
                                        </p:attrNameLst>
                                      </p:cBhvr>
                                      <p:to>
                                        <p:strVal val="visible"/>
                                      </p:to>
                                    </p:set>
                                    <p:animEffect transition="in" filter="checkerboard(across)">
                                      <p:cBhvr>
                                        <p:cTn id="12" dur="500"/>
                                        <p:tgtEl>
                                          <p:spTgt spid="153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2"/>
          <p:cNvSpPr txBox="1">
            <a:spLocks noChangeArrowheads="1"/>
          </p:cNvSpPr>
          <p:nvPr/>
        </p:nvSpPr>
        <p:spPr bwMode="auto">
          <a:xfrm>
            <a:off x="419100" y="407988"/>
            <a:ext cx="7832725"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176213" indent="-17621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buFontTx/>
              <a:buChar char="•"/>
            </a:pPr>
            <a:r>
              <a:rPr lang="fr-CA" dirty="0">
                <a:latin typeface="Arial Narrow" panose="020B0606020202030204" pitchFamily="34" charset="0"/>
              </a:rPr>
              <a:t>L’épiderme des feuilles comprend des </a:t>
            </a:r>
            <a:r>
              <a:rPr lang="fr-CA" b="1" dirty="0">
                <a:latin typeface="Arial Narrow" panose="020B0606020202030204" pitchFamily="34" charset="0"/>
              </a:rPr>
              <a:t>stomates </a:t>
            </a:r>
            <a:r>
              <a:rPr lang="fr-CA" dirty="0">
                <a:latin typeface="Arial Narrow" panose="020B0606020202030204" pitchFamily="34" charset="0"/>
              </a:rPr>
              <a:t>= structures pouvant contrôler les échanges gazeux.</a:t>
            </a:r>
          </a:p>
        </p:txBody>
      </p:sp>
      <p:pic>
        <p:nvPicPr>
          <p:cNvPr id="107522" name="Picture 3" descr="lfstoma"/>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14475" y="1803400"/>
            <a:ext cx="5440363" cy="226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4628" name="Text Box 4"/>
          <p:cNvSpPr txBox="1">
            <a:spLocks noChangeArrowheads="1"/>
          </p:cNvSpPr>
          <p:nvPr/>
        </p:nvSpPr>
        <p:spPr bwMode="auto">
          <a:xfrm>
            <a:off x="1012825" y="4241800"/>
            <a:ext cx="7381875" cy="1569660"/>
          </a:xfrm>
          <a:prstGeom prst="rect">
            <a:avLst/>
          </a:prstGeom>
          <a:solidFill>
            <a:srgbClr val="F5FAE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CA" b="1" dirty="0">
                <a:solidFill>
                  <a:srgbClr val="000000"/>
                </a:solidFill>
                <a:latin typeface="Arial Narrow" panose="020B0606020202030204" pitchFamily="34" charset="0"/>
              </a:rPr>
              <a:t>Lorsque les cellules de garde se gorgent d’eau (par osmose), l’ouverture (ostiole) s’agrandit. Inversement, si elles perdent de l’eau (toujours pas osmose), l’ouverture se ferme.</a:t>
            </a:r>
          </a:p>
        </p:txBody>
      </p:sp>
      <p:pic>
        <p:nvPicPr>
          <p:cNvPr id="107524" name="Picture 5" descr="Stomate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4325" y="2522538"/>
            <a:ext cx="2084388" cy="15636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7525" name="ZoneTexte 5"/>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2413887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4626">
                                            <p:txEl>
                                              <p:pRg st="0" end="0"/>
                                            </p:txEl>
                                          </p:spTgt>
                                        </p:tgtEl>
                                        <p:attrNameLst>
                                          <p:attrName>style.visibility</p:attrName>
                                        </p:attrNameLst>
                                      </p:cBhvr>
                                      <p:to>
                                        <p:strVal val="visible"/>
                                      </p:to>
                                    </p:set>
                                    <p:animEffect transition="in" filter="checkerboard(across)">
                                      <p:cBhvr>
                                        <p:cTn id="7" dur="500"/>
                                        <p:tgtEl>
                                          <p:spTgt spid="15462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54628"/>
                                        </p:tgtEl>
                                        <p:attrNameLst>
                                          <p:attrName>style.visibility</p:attrName>
                                        </p:attrNameLst>
                                      </p:cBhvr>
                                      <p:to>
                                        <p:strVal val="visible"/>
                                      </p:to>
                                    </p:set>
                                    <p:animEffect transition="in" filter="checkerboard(across)">
                                      <p:cBhvr>
                                        <p:cTn id="12" dur="500"/>
                                        <p:tgtEl>
                                          <p:spTgt spid="1546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ext Box 2"/>
          <p:cNvSpPr txBox="1">
            <a:spLocks noChangeArrowheads="1"/>
          </p:cNvSpPr>
          <p:nvPr/>
        </p:nvSpPr>
        <p:spPr bwMode="auto">
          <a:xfrm>
            <a:off x="868363" y="450850"/>
            <a:ext cx="7216775"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a:t>Les cellules de l’épiderme peuvent parfois être modifiées en </a:t>
            </a:r>
            <a:r>
              <a:rPr lang="fr-CA" b="1"/>
              <a:t>poils </a:t>
            </a:r>
            <a:r>
              <a:rPr lang="fr-CA"/>
              <a:t>(sur feuilles, tiges ou racines)</a:t>
            </a:r>
          </a:p>
        </p:txBody>
      </p:sp>
      <p:pic>
        <p:nvPicPr>
          <p:cNvPr id="108546" name="Picture 3" descr="racinepoil"/>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57475" y="2012950"/>
            <a:ext cx="5000625" cy="40211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8547" name="Picture 4" descr="roothairsf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85863" y="2247900"/>
            <a:ext cx="1600200" cy="3543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8548" name="Text Box 5"/>
          <p:cNvSpPr txBox="1">
            <a:spLocks noChangeArrowheads="1"/>
          </p:cNvSpPr>
          <p:nvPr/>
        </p:nvSpPr>
        <p:spPr bwMode="auto">
          <a:xfrm>
            <a:off x="1819275" y="6083300"/>
            <a:ext cx="4695825" cy="3365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t>Ex. poils absorbants d’une racine primaire</a:t>
            </a:r>
          </a:p>
        </p:txBody>
      </p:sp>
      <p:sp>
        <p:nvSpPr>
          <p:cNvPr id="108549" name="ZoneTexte 5"/>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2022407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69" name="Picture 2" descr="stem_7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9575" y="241300"/>
            <a:ext cx="4659313" cy="34909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9570" name="Text Box 3"/>
          <p:cNvSpPr txBox="1">
            <a:spLocks noChangeArrowheads="1"/>
          </p:cNvSpPr>
          <p:nvPr/>
        </p:nvSpPr>
        <p:spPr bwMode="auto">
          <a:xfrm>
            <a:off x="3962400" y="3903663"/>
            <a:ext cx="2557463" cy="822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a:t>Quelle est l’utilité de ces poils ?</a:t>
            </a:r>
          </a:p>
        </p:txBody>
      </p:sp>
      <p:pic>
        <p:nvPicPr>
          <p:cNvPr id="109571" name="Picture 4" descr="trichomes"/>
          <p:cNvPicPr>
            <a:picLocks noChangeAspect="1" noChangeArrowheads="1"/>
          </p:cNvPicPr>
          <p:nvPr/>
        </p:nvPicPr>
        <p:blipFill>
          <a:blip r:embed="rId3">
            <a:lum contrast="6000"/>
            <a:extLst>
              <a:ext uri="{28A0092B-C50C-407E-A947-70E740481C1C}">
                <a14:useLocalDpi xmlns:a14="http://schemas.microsoft.com/office/drawing/2010/main" val="0"/>
              </a:ext>
            </a:extLst>
          </a:blip>
          <a:srcRect t="9238"/>
          <a:stretch>
            <a:fillRect/>
          </a:stretch>
        </p:blipFill>
        <p:spPr bwMode="auto">
          <a:xfrm>
            <a:off x="339725" y="173038"/>
            <a:ext cx="2089150" cy="2667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9572" name="Text Box 5"/>
          <p:cNvSpPr txBox="1">
            <a:spLocks noChangeArrowheads="1"/>
          </p:cNvSpPr>
          <p:nvPr/>
        </p:nvSpPr>
        <p:spPr bwMode="auto">
          <a:xfrm>
            <a:off x="268288" y="2855913"/>
            <a:ext cx="3705225" cy="1155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400" b="1"/>
              <a:t>Cellules épidermiques modifiées formant des poils. Certains de ces poils se terminent par des cellules pouvant sécréter des substances irritantes, collantes ou aromatiques.</a:t>
            </a:r>
          </a:p>
        </p:txBody>
      </p:sp>
      <p:pic>
        <p:nvPicPr>
          <p:cNvPr id="109573" name="Picture 6" descr="trichd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51100" y="846138"/>
            <a:ext cx="1612900" cy="1400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9574" name="Picture 7" descr="medicago_marin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125" y="4111625"/>
            <a:ext cx="3432175" cy="2576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9575" name="Picture 8" descr="tomato_leaf_secti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9988" y="4792663"/>
            <a:ext cx="2673350" cy="1781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9576" name="Picture 9" descr="hair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70688" y="3044825"/>
            <a:ext cx="2062162" cy="3043238"/>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09577" name="ZoneTexte 9"/>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055391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ext Box 2"/>
          <p:cNvSpPr txBox="1">
            <a:spLocks noChangeArrowheads="1"/>
          </p:cNvSpPr>
          <p:nvPr/>
        </p:nvSpPr>
        <p:spPr bwMode="auto">
          <a:xfrm>
            <a:off x="484188" y="484188"/>
            <a:ext cx="7767637"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4. Les tissus vasculaires</a:t>
            </a:r>
          </a:p>
        </p:txBody>
      </p:sp>
      <p:pic>
        <p:nvPicPr>
          <p:cNvPr id="110594" name="Picture 3" descr="plant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2963" y="2157413"/>
            <a:ext cx="2781300" cy="36004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0595" name="Text Box 4"/>
          <p:cNvSpPr txBox="1">
            <a:spLocks noChangeArrowheads="1"/>
          </p:cNvSpPr>
          <p:nvPr/>
        </p:nvSpPr>
        <p:spPr bwMode="auto">
          <a:xfrm>
            <a:off x="771525" y="2698750"/>
            <a:ext cx="4856163" cy="26776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marL="381000" indent="-3810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fr-CA" dirty="0">
                <a:latin typeface="Arial Narrow" panose="020B0606020202030204" pitchFamily="34" charset="0"/>
              </a:rPr>
              <a:t>Les plantes terrestres ont besoin :</a:t>
            </a:r>
          </a:p>
          <a:p>
            <a:pPr>
              <a:spcBef>
                <a:spcPct val="50000"/>
              </a:spcBef>
              <a:buFontTx/>
              <a:buChar char="•"/>
            </a:pPr>
            <a:r>
              <a:rPr lang="fr-CA" dirty="0">
                <a:latin typeface="Arial Narrow" panose="020B0606020202030204" pitchFamily="34" charset="0"/>
              </a:rPr>
              <a:t>Gaz (CO</a:t>
            </a:r>
            <a:r>
              <a:rPr lang="fr-CA" baseline="-25000" dirty="0">
                <a:latin typeface="Arial Narrow" panose="020B0606020202030204" pitchFamily="34" charset="0"/>
              </a:rPr>
              <a:t>2</a:t>
            </a:r>
            <a:r>
              <a:rPr lang="fr-CA" dirty="0">
                <a:latin typeface="Arial Narrow" panose="020B0606020202030204" pitchFamily="34" charset="0"/>
              </a:rPr>
              <a:t>)</a:t>
            </a:r>
          </a:p>
          <a:p>
            <a:pPr>
              <a:spcBef>
                <a:spcPct val="50000"/>
              </a:spcBef>
              <a:buFontTx/>
              <a:buChar char="•"/>
            </a:pPr>
            <a:r>
              <a:rPr lang="fr-CA" dirty="0">
                <a:latin typeface="Arial Narrow" panose="020B0606020202030204" pitchFamily="34" charset="0"/>
              </a:rPr>
              <a:t>Lumière</a:t>
            </a:r>
          </a:p>
          <a:p>
            <a:pPr>
              <a:spcBef>
                <a:spcPct val="50000"/>
              </a:spcBef>
              <a:buFontTx/>
              <a:buChar char="•"/>
            </a:pPr>
            <a:r>
              <a:rPr lang="fr-CA" dirty="0">
                <a:latin typeface="Arial Narrow" panose="020B0606020202030204" pitchFamily="34" charset="0"/>
              </a:rPr>
              <a:t>Minéraux</a:t>
            </a:r>
          </a:p>
          <a:p>
            <a:pPr>
              <a:spcBef>
                <a:spcPct val="50000"/>
              </a:spcBef>
              <a:buFontTx/>
              <a:buChar char="•"/>
            </a:pPr>
            <a:r>
              <a:rPr lang="fr-CA" dirty="0">
                <a:latin typeface="Arial Narrow" panose="020B0606020202030204" pitchFamily="34" charset="0"/>
              </a:rPr>
              <a:t>Eau</a:t>
            </a:r>
          </a:p>
        </p:txBody>
      </p:sp>
      <p:grpSp>
        <p:nvGrpSpPr>
          <p:cNvPr id="2" name="Group 5"/>
          <p:cNvGrpSpPr>
            <a:grpSpLocks/>
          </p:cNvGrpSpPr>
          <p:nvPr/>
        </p:nvGrpSpPr>
        <p:grpSpPr bwMode="auto">
          <a:xfrm>
            <a:off x="2981325" y="3384550"/>
            <a:ext cx="2209800" cy="1828800"/>
            <a:chOff x="1824" y="1824"/>
            <a:chExt cx="1392" cy="1152"/>
          </a:xfrm>
        </p:grpSpPr>
        <p:sp>
          <p:nvSpPr>
            <p:cNvPr id="110599" name="Line 6"/>
            <p:cNvSpPr>
              <a:spLocks noChangeShapeType="1"/>
            </p:cNvSpPr>
            <p:nvPr/>
          </p:nvSpPr>
          <p:spPr bwMode="auto">
            <a:xfrm>
              <a:off x="1824" y="1824"/>
              <a:ext cx="0" cy="528"/>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wrap="none" anchor="ctr">
              <a:spAutoFit/>
            </a:bodyPr>
            <a:lstStyle/>
            <a:p>
              <a:endParaRPr lang="fr-FR"/>
            </a:p>
          </p:txBody>
        </p:sp>
        <p:sp>
          <p:nvSpPr>
            <p:cNvPr id="110600" name="Line 7"/>
            <p:cNvSpPr>
              <a:spLocks noChangeShapeType="1"/>
            </p:cNvSpPr>
            <p:nvPr/>
          </p:nvSpPr>
          <p:spPr bwMode="auto">
            <a:xfrm>
              <a:off x="1824" y="2064"/>
              <a:ext cx="24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fr-FR"/>
            </a:p>
          </p:txBody>
        </p:sp>
        <p:sp>
          <p:nvSpPr>
            <p:cNvPr id="110601" name="Text Box 8"/>
            <p:cNvSpPr txBox="1">
              <a:spLocks noChangeArrowheads="1"/>
            </p:cNvSpPr>
            <p:nvPr/>
          </p:nvSpPr>
          <p:spPr bwMode="auto">
            <a:xfrm>
              <a:off x="2112" y="1920"/>
              <a:ext cx="110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fr-CA"/>
                <a:t>Dans l’air</a:t>
              </a:r>
            </a:p>
          </p:txBody>
        </p:sp>
        <p:sp>
          <p:nvSpPr>
            <p:cNvPr id="110602" name="Line 9"/>
            <p:cNvSpPr>
              <a:spLocks noChangeShapeType="1"/>
            </p:cNvSpPr>
            <p:nvPr/>
          </p:nvSpPr>
          <p:spPr bwMode="auto">
            <a:xfrm>
              <a:off x="1824" y="2448"/>
              <a:ext cx="0" cy="528"/>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wrap="none" anchor="ctr">
              <a:spAutoFit/>
            </a:bodyPr>
            <a:lstStyle/>
            <a:p>
              <a:endParaRPr lang="fr-FR"/>
            </a:p>
          </p:txBody>
        </p:sp>
        <p:sp>
          <p:nvSpPr>
            <p:cNvPr id="110603" name="Line 10"/>
            <p:cNvSpPr>
              <a:spLocks noChangeShapeType="1"/>
            </p:cNvSpPr>
            <p:nvPr/>
          </p:nvSpPr>
          <p:spPr bwMode="auto">
            <a:xfrm>
              <a:off x="1824" y="2688"/>
              <a:ext cx="24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nchor="ctr">
              <a:spAutoFit/>
            </a:bodyPr>
            <a:lstStyle/>
            <a:p>
              <a:endParaRPr lang="fr-FR"/>
            </a:p>
          </p:txBody>
        </p:sp>
        <p:sp>
          <p:nvSpPr>
            <p:cNvPr id="110604" name="Text Box 11"/>
            <p:cNvSpPr txBox="1">
              <a:spLocks noChangeArrowheads="1"/>
            </p:cNvSpPr>
            <p:nvPr/>
          </p:nvSpPr>
          <p:spPr bwMode="auto">
            <a:xfrm>
              <a:off x="2112" y="2544"/>
              <a:ext cx="1104"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fr-CA"/>
                <a:t>Dans le sol</a:t>
              </a:r>
            </a:p>
          </p:txBody>
        </p:sp>
      </p:grpSp>
      <p:sp>
        <p:nvSpPr>
          <p:cNvPr id="110597" name="Text Box 12"/>
          <p:cNvSpPr txBox="1">
            <a:spLocks noChangeArrowheads="1"/>
          </p:cNvSpPr>
          <p:nvPr/>
        </p:nvSpPr>
        <p:spPr bwMode="auto">
          <a:xfrm>
            <a:off x="5886450" y="182563"/>
            <a:ext cx="2844800" cy="1446212"/>
          </a:xfrm>
          <a:prstGeom prst="rect">
            <a:avLst/>
          </a:prstGeom>
          <a:solidFill>
            <a:schemeClr val="bg1"/>
          </a:solidFill>
          <a:ln w="9525">
            <a:solidFill>
              <a:schemeClr val="tx1"/>
            </a:solidFill>
            <a:miter lim="800000"/>
            <a:headEnd/>
            <a:tailEnd/>
          </a:ln>
        </p:spPr>
        <p:txBody>
          <a:bodyPr>
            <a:spAutoFit/>
          </a:bodyPr>
          <a:lstStyle>
            <a:lvl1pPr marL="342900" indent="-342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buFontTx/>
              <a:buAutoNum type="arabicPeriod"/>
            </a:pPr>
            <a:r>
              <a:rPr lang="fr-CA" sz="1600" b="1">
                <a:solidFill>
                  <a:srgbClr val="C0C0C0"/>
                </a:solidFill>
              </a:rPr>
              <a:t>Méristèmes</a:t>
            </a:r>
          </a:p>
          <a:p>
            <a:pPr eaLnBrk="1" hangingPunct="1">
              <a:spcBef>
                <a:spcPct val="50000"/>
              </a:spcBef>
              <a:buFontTx/>
              <a:buAutoNum type="arabicPeriod"/>
            </a:pPr>
            <a:r>
              <a:rPr lang="fr-CA" sz="1600" b="1">
                <a:solidFill>
                  <a:srgbClr val="C0C0C0"/>
                </a:solidFill>
              </a:rPr>
              <a:t>Tissus fondamentaux</a:t>
            </a:r>
          </a:p>
          <a:p>
            <a:pPr eaLnBrk="1" hangingPunct="1">
              <a:spcBef>
                <a:spcPct val="50000"/>
              </a:spcBef>
              <a:buFontTx/>
              <a:buAutoNum type="arabicPeriod"/>
            </a:pPr>
            <a:r>
              <a:rPr lang="fr-CA" sz="1600" b="1">
                <a:solidFill>
                  <a:srgbClr val="C0C0C0"/>
                </a:solidFill>
              </a:rPr>
              <a:t>Tissus de revêtement</a:t>
            </a:r>
          </a:p>
          <a:p>
            <a:pPr eaLnBrk="1" hangingPunct="1">
              <a:spcBef>
                <a:spcPct val="50000"/>
              </a:spcBef>
              <a:buFontTx/>
              <a:buAutoNum type="arabicPeriod"/>
            </a:pPr>
            <a:r>
              <a:rPr lang="fr-CA" sz="1600" b="1">
                <a:solidFill>
                  <a:srgbClr val="CC3300"/>
                </a:solidFill>
              </a:rPr>
              <a:t>Tissus vasculaires</a:t>
            </a:r>
          </a:p>
        </p:txBody>
      </p:sp>
      <p:sp>
        <p:nvSpPr>
          <p:cNvPr id="110598" name="ZoneTexte 12"/>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196506058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ext Box 2"/>
          <p:cNvSpPr txBox="1">
            <a:spLocks noChangeArrowheads="1"/>
          </p:cNvSpPr>
          <p:nvPr/>
        </p:nvSpPr>
        <p:spPr bwMode="auto">
          <a:xfrm>
            <a:off x="469900" y="231775"/>
            <a:ext cx="8153400"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marL="381000" indent="-3810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fr-CA" dirty="0">
                <a:latin typeface="Arial Narrow" panose="020B0606020202030204" pitchFamily="34" charset="0"/>
              </a:rPr>
              <a:t>Les plantes terrestres doivent donc se diviser en deux:</a:t>
            </a:r>
          </a:p>
          <a:p>
            <a:pPr>
              <a:spcBef>
                <a:spcPct val="50000"/>
              </a:spcBef>
              <a:buFontTx/>
              <a:buChar char="•"/>
            </a:pPr>
            <a:r>
              <a:rPr lang="fr-CA" dirty="0">
                <a:latin typeface="Arial Narrow" panose="020B0606020202030204" pitchFamily="34" charset="0"/>
              </a:rPr>
              <a:t>Partie dans le sol : </a:t>
            </a:r>
            <a:r>
              <a:rPr lang="fr-CA" b="1" dirty="0">
                <a:latin typeface="Arial Narrow" panose="020B0606020202030204" pitchFamily="34" charset="0"/>
              </a:rPr>
              <a:t>système racinaire </a:t>
            </a:r>
            <a:r>
              <a:rPr lang="fr-CA" dirty="0">
                <a:latin typeface="Arial Narrow" panose="020B0606020202030204" pitchFamily="34" charset="0"/>
              </a:rPr>
              <a:t>(racines)</a:t>
            </a:r>
          </a:p>
          <a:p>
            <a:pPr>
              <a:spcBef>
                <a:spcPct val="50000"/>
              </a:spcBef>
              <a:buFontTx/>
              <a:buChar char="•"/>
            </a:pPr>
            <a:r>
              <a:rPr lang="fr-CA" dirty="0">
                <a:latin typeface="Arial Narrow" panose="020B0606020202030204" pitchFamily="34" charset="0"/>
              </a:rPr>
              <a:t>Partie aérienne :</a:t>
            </a:r>
            <a:r>
              <a:rPr lang="fr-CA" dirty="0">
                <a:solidFill>
                  <a:srgbClr val="FFFF00"/>
                </a:solidFill>
                <a:latin typeface="Arial Narrow" panose="020B0606020202030204" pitchFamily="34" charset="0"/>
              </a:rPr>
              <a:t> </a:t>
            </a:r>
            <a:r>
              <a:rPr lang="fr-CA" b="1" dirty="0">
                <a:latin typeface="Arial Narrow" panose="020B0606020202030204" pitchFamily="34" charset="0"/>
              </a:rPr>
              <a:t>système caulinaire</a:t>
            </a:r>
            <a:r>
              <a:rPr lang="fr-CA" b="1" dirty="0">
                <a:solidFill>
                  <a:srgbClr val="FFFF00"/>
                </a:solidFill>
                <a:latin typeface="Arial Narrow" panose="020B0606020202030204" pitchFamily="34" charset="0"/>
              </a:rPr>
              <a:t> </a:t>
            </a:r>
            <a:r>
              <a:rPr lang="fr-CA" dirty="0">
                <a:latin typeface="Arial Narrow" panose="020B0606020202030204" pitchFamily="34" charset="0"/>
              </a:rPr>
              <a:t>(tige, feuilles, fleurs, etc.)</a:t>
            </a:r>
          </a:p>
        </p:txBody>
      </p:sp>
      <p:sp>
        <p:nvSpPr>
          <p:cNvPr id="158723" name="Text Box 3"/>
          <p:cNvSpPr txBox="1">
            <a:spLocks noChangeArrowheads="1"/>
          </p:cNvSpPr>
          <p:nvPr/>
        </p:nvSpPr>
        <p:spPr bwMode="auto">
          <a:xfrm>
            <a:off x="533400" y="3657600"/>
            <a:ext cx="4713288" cy="28623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marL="381000" indent="-3810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a:spcBef>
                <a:spcPct val="50000"/>
              </a:spcBef>
              <a:buFontTx/>
              <a:buChar char="•"/>
            </a:pPr>
            <a:r>
              <a:rPr lang="fr-CA" b="1" dirty="0">
                <a:latin typeface="Arial Narrow" panose="020B0606020202030204" pitchFamily="34" charset="0"/>
              </a:rPr>
              <a:t>Xylème</a:t>
            </a:r>
            <a:r>
              <a:rPr lang="fr-CA" dirty="0">
                <a:latin typeface="Arial Narrow" panose="020B0606020202030204" pitchFamily="34" charset="0"/>
              </a:rPr>
              <a:t> : transporte </a:t>
            </a:r>
            <a:r>
              <a:rPr lang="fr-CA" b="1" dirty="0">
                <a:latin typeface="Arial Narrow" panose="020B0606020202030204" pitchFamily="34" charset="0"/>
              </a:rPr>
              <a:t>sève brute</a:t>
            </a:r>
            <a:r>
              <a:rPr lang="fr-CA" dirty="0">
                <a:latin typeface="Arial Narrow" panose="020B0606020202030204" pitchFamily="34" charset="0"/>
              </a:rPr>
              <a:t> (eau et minéraux)</a:t>
            </a:r>
          </a:p>
          <a:p>
            <a:pPr algn="just">
              <a:spcBef>
                <a:spcPct val="50000"/>
              </a:spcBef>
              <a:buFontTx/>
              <a:buChar char="•"/>
            </a:pPr>
            <a:r>
              <a:rPr lang="fr-CA" b="1" dirty="0">
                <a:latin typeface="Arial Narrow" panose="020B0606020202030204" pitchFamily="34" charset="0"/>
              </a:rPr>
              <a:t>Phloème</a:t>
            </a:r>
            <a:r>
              <a:rPr lang="fr-CA" dirty="0">
                <a:latin typeface="Arial Narrow" panose="020B0606020202030204" pitchFamily="34" charset="0"/>
              </a:rPr>
              <a:t> : transporte </a:t>
            </a:r>
            <a:r>
              <a:rPr lang="fr-CA" b="1" dirty="0">
                <a:latin typeface="Arial Narrow" panose="020B0606020202030204" pitchFamily="34" charset="0"/>
              </a:rPr>
              <a:t>sève élaborée</a:t>
            </a:r>
            <a:r>
              <a:rPr lang="fr-CA" dirty="0">
                <a:latin typeface="Arial Narrow" panose="020B0606020202030204" pitchFamily="34" charset="0"/>
              </a:rPr>
              <a:t> (sucres et autres matières organiques) vers les parties qui ne font pas de photosynthèse en générale</a:t>
            </a:r>
          </a:p>
        </p:txBody>
      </p:sp>
      <p:pic>
        <p:nvPicPr>
          <p:cNvPr id="111619" name="Picture 4" descr="plan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3900" y="2667000"/>
            <a:ext cx="3060700" cy="396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2" name="Group 5"/>
          <p:cNvGrpSpPr>
            <a:grpSpLocks/>
          </p:cNvGrpSpPr>
          <p:nvPr/>
        </p:nvGrpSpPr>
        <p:grpSpPr bwMode="auto">
          <a:xfrm>
            <a:off x="466725" y="2701925"/>
            <a:ext cx="8305800" cy="2286000"/>
            <a:chOff x="288" y="1680"/>
            <a:chExt cx="5232" cy="1440"/>
          </a:xfrm>
        </p:grpSpPr>
        <p:sp>
          <p:nvSpPr>
            <p:cNvPr id="111622" name="Text Box 6"/>
            <p:cNvSpPr txBox="1">
              <a:spLocks noChangeArrowheads="1"/>
            </p:cNvSpPr>
            <p:nvPr/>
          </p:nvSpPr>
          <p:spPr bwMode="auto">
            <a:xfrm>
              <a:off x="288" y="1680"/>
              <a:ext cx="3216" cy="52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r>
                <a:rPr lang="fr-CA" dirty="0">
                  <a:latin typeface="Arial Narrow" panose="020B0606020202030204" pitchFamily="34" charset="0"/>
                </a:rPr>
                <a:t>Entre les deux : </a:t>
              </a:r>
              <a:r>
                <a:rPr lang="fr-CA" b="1" dirty="0">
                  <a:latin typeface="Arial Narrow" panose="020B0606020202030204" pitchFamily="34" charset="0"/>
                </a:rPr>
                <a:t>tissus conducteurs</a:t>
              </a:r>
              <a:r>
                <a:rPr lang="fr-CA" dirty="0">
                  <a:latin typeface="Arial Narrow" panose="020B0606020202030204" pitchFamily="34" charset="0"/>
                </a:rPr>
                <a:t> assurent le lien :</a:t>
              </a:r>
            </a:p>
          </p:txBody>
        </p:sp>
        <p:sp>
          <p:nvSpPr>
            <p:cNvPr id="111623" name="Rectangle 7"/>
            <p:cNvSpPr>
              <a:spLocks noChangeArrowheads="1"/>
            </p:cNvSpPr>
            <p:nvPr/>
          </p:nvSpPr>
          <p:spPr bwMode="auto">
            <a:xfrm>
              <a:off x="4704" y="2832"/>
              <a:ext cx="816" cy="288"/>
            </a:xfrm>
            <a:prstGeom prst="rect">
              <a:avLst/>
            </a:prstGeom>
            <a:noFill/>
            <a:ln w="28575">
              <a:solidFill>
                <a:srgbClr val="FF3300"/>
              </a:solidFill>
              <a:miter lim="800000"/>
              <a:headEnd/>
              <a:tailEnd/>
            </a:ln>
            <a:extLst>
              <a:ext uri="{909E8E84-426E-40dd-AFC4-6F175D3DCCD1}">
                <a14:hiddenFill xmlns="" xmlns:a14="http://schemas.microsoft.com/office/drawing/2010/main">
                  <a:solidFill>
                    <a:srgbClr val="FFFFFF"/>
                  </a:solidFill>
                </a14:hiddenFill>
              </a:ext>
            </a:extLst>
          </p:spPr>
          <p:txBody>
            <a:bodyPr anchor="ctr">
              <a:spAutoFit/>
            </a:bodyPr>
            <a:lstStyle/>
            <a:p>
              <a:endParaRPr lang="fr-FR"/>
            </a:p>
          </p:txBody>
        </p:sp>
      </p:grpSp>
      <p:sp>
        <p:nvSpPr>
          <p:cNvPr id="111621" name="ZoneTexte 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9021306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8723">
                                            <p:txEl>
                                              <p:pRg st="0" end="0"/>
                                            </p:txEl>
                                          </p:spTgt>
                                        </p:tgtEl>
                                        <p:attrNameLst>
                                          <p:attrName>style.visibility</p:attrName>
                                        </p:attrNameLst>
                                      </p:cBhvr>
                                      <p:to>
                                        <p:strVal val="visible"/>
                                      </p:to>
                                    </p:set>
                                    <p:anim calcmode="lin" valueType="num">
                                      <p:cBhvr additive="base">
                                        <p:cTn id="13" dur="500" fill="hold"/>
                                        <p:tgtEl>
                                          <p:spTgt spid="158723">
                                            <p:txEl>
                                              <p:pRg st="0" end="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872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8723">
                                            <p:txEl>
                                              <p:pRg st="1" end="1"/>
                                            </p:txEl>
                                          </p:spTgt>
                                        </p:tgtEl>
                                        <p:attrNameLst>
                                          <p:attrName>style.visibility</p:attrName>
                                        </p:attrNameLst>
                                      </p:cBhvr>
                                      <p:to>
                                        <p:strVal val="visible"/>
                                      </p:to>
                                    </p:set>
                                    <p:anim calcmode="lin" valueType="num">
                                      <p:cBhvr additive="base">
                                        <p:cTn id="19" dur="500" fill="hold"/>
                                        <p:tgtEl>
                                          <p:spTgt spid="158723">
                                            <p:txEl>
                                              <p:pRg st="1" end="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872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3"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
          <p:cNvSpPr txBox="1">
            <a:spLocks noChangeArrowheads="1"/>
          </p:cNvSpPr>
          <p:nvPr/>
        </p:nvSpPr>
        <p:spPr bwMode="auto">
          <a:xfrm>
            <a:off x="347663" y="342900"/>
            <a:ext cx="8328025" cy="8309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3136900" indent="-313690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dirty="0"/>
              <a:t>Xylème et phloème</a:t>
            </a:r>
            <a:r>
              <a:rPr lang="fr-CA" dirty="0"/>
              <a:t> = </a:t>
            </a:r>
            <a:r>
              <a:rPr lang="fr-CA" dirty="0">
                <a:latin typeface="Arial Narrow" panose="020B0606020202030204" pitchFamily="34" charset="0"/>
              </a:rPr>
              <a:t>tissus complexes (formés de plusieurs sortes de cellules)</a:t>
            </a:r>
          </a:p>
        </p:txBody>
      </p:sp>
      <p:sp>
        <p:nvSpPr>
          <p:cNvPr id="112642" name="Text Box 3"/>
          <p:cNvSpPr txBox="1">
            <a:spLocks noChangeArrowheads="1"/>
          </p:cNvSpPr>
          <p:nvPr/>
        </p:nvSpPr>
        <p:spPr bwMode="auto">
          <a:xfrm>
            <a:off x="357188" y="2020888"/>
            <a:ext cx="6272212" cy="579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Xylème</a:t>
            </a:r>
            <a:r>
              <a:rPr lang="fr-CA" sz="3200"/>
              <a:t> </a:t>
            </a:r>
            <a:r>
              <a:rPr lang="fr-CA"/>
              <a:t>(du grec </a:t>
            </a:r>
            <a:r>
              <a:rPr lang="fr-CA" i="1"/>
              <a:t>xylos</a:t>
            </a:r>
            <a:r>
              <a:rPr lang="fr-CA"/>
              <a:t> : bois)</a:t>
            </a:r>
          </a:p>
        </p:txBody>
      </p:sp>
      <p:sp>
        <p:nvSpPr>
          <p:cNvPr id="159748" name="Text Box 4"/>
          <p:cNvSpPr txBox="1">
            <a:spLocks noChangeArrowheads="1"/>
          </p:cNvSpPr>
          <p:nvPr/>
        </p:nvSpPr>
        <p:spPr bwMode="auto">
          <a:xfrm>
            <a:off x="519113" y="3273425"/>
            <a:ext cx="7991475"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dirty="0">
                <a:latin typeface="Arial Narrow" panose="020B0606020202030204" pitchFamily="34" charset="0"/>
              </a:rPr>
              <a:t>Contient deux types de cellules conductrices de sève:</a:t>
            </a:r>
          </a:p>
        </p:txBody>
      </p:sp>
      <p:sp>
        <p:nvSpPr>
          <p:cNvPr id="159749" name="Rectangle 5"/>
          <p:cNvSpPr>
            <a:spLocks noChangeArrowheads="1"/>
          </p:cNvSpPr>
          <p:nvPr/>
        </p:nvSpPr>
        <p:spPr bwMode="auto">
          <a:xfrm>
            <a:off x="941977" y="4097337"/>
            <a:ext cx="7450138" cy="1015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28575">
                <a:solidFill>
                  <a:srgbClr val="000000"/>
                </a:solidFill>
                <a:miter lim="800000"/>
                <a:headEnd/>
                <a:tailEnd/>
              </a14:hiddenLine>
            </a:ext>
          </a:extLst>
        </p:spPr>
        <p:txBody>
          <a:bodyPr>
            <a:spAutoFit/>
          </a:bodyPr>
          <a:lstStyle/>
          <a:p>
            <a:pPr marL="274638" indent="-274638" eaLnBrk="0" hangingPunct="0">
              <a:spcBef>
                <a:spcPct val="50000"/>
              </a:spcBef>
              <a:buFontTx/>
              <a:buChar char="•"/>
            </a:pPr>
            <a:r>
              <a:rPr lang="fr-CA" sz="2400" b="1" dirty="0">
                <a:latin typeface="Arial Narrow" panose="020B0606020202030204" pitchFamily="34" charset="0"/>
              </a:rPr>
              <a:t>Trachéides</a:t>
            </a:r>
            <a:r>
              <a:rPr lang="fr-CA" sz="2400" dirty="0">
                <a:latin typeface="Arial Narrow" panose="020B0606020202030204" pitchFamily="34" charset="0"/>
              </a:rPr>
              <a:t> : cellules minces et allongées.</a:t>
            </a:r>
          </a:p>
          <a:p>
            <a:pPr marL="274638" indent="-274638" eaLnBrk="0" hangingPunct="0">
              <a:spcBef>
                <a:spcPct val="50000"/>
              </a:spcBef>
              <a:buFontTx/>
              <a:buChar char="•"/>
            </a:pPr>
            <a:r>
              <a:rPr lang="fr-CA" sz="2400" b="1" dirty="0">
                <a:latin typeface="Arial Narrow" panose="020B0606020202030204" pitchFamily="34" charset="0"/>
              </a:rPr>
              <a:t>Éléments de vaisseau</a:t>
            </a:r>
            <a:r>
              <a:rPr lang="fr-CA" sz="2400" dirty="0">
                <a:latin typeface="Arial Narrow" panose="020B0606020202030204" pitchFamily="34" charset="0"/>
              </a:rPr>
              <a:t> : plus courts et plus gros.</a:t>
            </a:r>
          </a:p>
        </p:txBody>
      </p:sp>
      <p:sp>
        <p:nvSpPr>
          <p:cNvPr id="112645" name="Line 6"/>
          <p:cNvSpPr>
            <a:spLocks noChangeShapeType="1"/>
          </p:cNvSpPr>
          <p:nvPr/>
        </p:nvSpPr>
        <p:spPr bwMode="auto">
          <a:xfrm>
            <a:off x="277813" y="1577975"/>
            <a:ext cx="8445500" cy="0"/>
          </a:xfrm>
          <a:prstGeom prst="line">
            <a:avLst/>
          </a:prstGeom>
          <a:noFill/>
          <a:ln w="57150">
            <a:solidFill>
              <a:schemeClr val="tx1"/>
            </a:solidFill>
            <a:round/>
            <a:headEnd/>
            <a:tailEnd/>
          </a:ln>
          <a:extLst>
            <a:ext uri="{909E8E84-426E-40dd-AFC4-6F175D3DCCD1}">
              <a14:hiddenFill xmlns="" xmlns:a14="http://schemas.microsoft.com/office/drawing/2010/main">
                <a:noFill/>
              </a14:hiddenFill>
            </a:ext>
          </a:extLst>
        </p:spPr>
        <p:txBody>
          <a:bodyPr>
            <a:spAutoFit/>
          </a:bodyPr>
          <a:lstStyle/>
          <a:p>
            <a:endParaRPr lang="fr-FR"/>
          </a:p>
        </p:txBody>
      </p:sp>
      <p:sp>
        <p:nvSpPr>
          <p:cNvPr id="112646" name="Text Box 7"/>
          <p:cNvSpPr txBox="1">
            <a:spLocks noChangeArrowheads="1"/>
          </p:cNvSpPr>
          <p:nvPr/>
        </p:nvSpPr>
        <p:spPr bwMode="auto">
          <a:xfrm>
            <a:off x="5797550" y="1827213"/>
            <a:ext cx="2671763" cy="1079500"/>
          </a:xfrm>
          <a:prstGeom prst="rect">
            <a:avLst/>
          </a:prstGeom>
          <a:solidFill>
            <a:srgbClr val="F5FAE8"/>
          </a:solidFill>
          <a:ln w="9525">
            <a:solidFill>
              <a:schemeClr val="tx1"/>
            </a:solidFill>
            <a:miter lim="800000"/>
            <a:headEnd/>
            <a:tailEnd/>
          </a:ln>
        </p:spPr>
        <p:txBody>
          <a:bodyPr>
            <a:spAutoFit/>
          </a:bodyPr>
          <a:lstStyle>
            <a:lvl1pPr marL="265113" indent="-26511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t>4. </a:t>
            </a:r>
            <a:r>
              <a:rPr lang="fr-CA" sz="1400" b="1"/>
              <a:t>T</a:t>
            </a:r>
            <a:r>
              <a:rPr lang="fr-CA" sz="1400" b="1">
                <a:solidFill>
                  <a:srgbClr val="000000"/>
                </a:solidFill>
              </a:rPr>
              <a:t>ISSUS VASCULAIRES</a:t>
            </a:r>
          </a:p>
          <a:p>
            <a:pPr eaLnBrk="1" hangingPunct="1">
              <a:spcBef>
                <a:spcPct val="50000"/>
              </a:spcBef>
              <a:buFontTx/>
              <a:buChar char="•"/>
            </a:pPr>
            <a:r>
              <a:rPr lang="fr-CA" sz="1600" b="1">
                <a:solidFill>
                  <a:srgbClr val="000000"/>
                </a:solidFill>
              </a:rPr>
              <a:t>Xylème</a:t>
            </a:r>
          </a:p>
          <a:p>
            <a:pPr eaLnBrk="1" hangingPunct="1">
              <a:spcBef>
                <a:spcPct val="50000"/>
              </a:spcBef>
              <a:buFontTx/>
              <a:buChar char="•"/>
            </a:pPr>
            <a:r>
              <a:rPr lang="fr-CA" sz="1600" b="1">
                <a:solidFill>
                  <a:srgbClr val="000000"/>
                </a:solidFill>
              </a:rPr>
              <a:t>Phloème</a:t>
            </a:r>
          </a:p>
        </p:txBody>
      </p:sp>
      <p:sp>
        <p:nvSpPr>
          <p:cNvPr id="112647" name="ZoneTexte 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9426465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59746">
                                            <p:txEl>
                                              <p:pRg st="0" end="0"/>
                                            </p:txEl>
                                          </p:spTgt>
                                        </p:tgtEl>
                                        <p:attrNameLst>
                                          <p:attrName>style.visibility</p:attrName>
                                        </p:attrNameLst>
                                      </p:cBhvr>
                                      <p:to>
                                        <p:strVal val="visible"/>
                                      </p:to>
                                    </p:set>
                                    <p:animEffect transition="in" filter="checkerboard(across)">
                                      <p:cBhvr>
                                        <p:cTn id="7" dur="500"/>
                                        <p:tgtEl>
                                          <p:spTgt spid="1597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59748">
                                            <p:txEl>
                                              <p:pRg st="0" end="0"/>
                                            </p:txEl>
                                          </p:spTgt>
                                        </p:tgtEl>
                                        <p:attrNameLst>
                                          <p:attrName>style.visibility</p:attrName>
                                        </p:attrNameLst>
                                      </p:cBhvr>
                                      <p:to>
                                        <p:strVal val="visible"/>
                                      </p:to>
                                    </p:set>
                                    <p:animEffect transition="in" filter="checkerboard(across)">
                                      <p:cBhvr>
                                        <p:cTn id="12" dur="500"/>
                                        <p:tgtEl>
                                          <p:spTgt spid="15974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59749">
                                            <p:txEl>
                                              <p:pRg st="0" end="0"/>
                                            </p:txEl>
                                          </p:spTgt>
                                        </p:tgtEl>
                                        <p:attrNameLst>
                                          <p:attrName>style.visibility</p:attrName>
                                        </p:attrNameLst>
                                      </p:cBhvr>
                                      <p:to>
                                        <p:strVal val="visible"/>
                                      </p:to>
                                    </p:set>
                                    <p:animEffect transition="in" filter="checkerboard(across)">
                                      <p:cBhvr>
                                        <p:cTn id="17" dur="500"/>
                                        <p:tgtEl>
                                          <p:spTgt spid="159749">
                                            <p:txEl>
                                              <p:pRg st="0" end="0"/>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159749">
                                            <p:txEl>
                                              <p:pRg st="1" end="1"/>
                                            </p:txEl>
                                          </p:spTgt>
                                        </p:tgtEl>
                                        <p:attrNameLst>
                                          <p:attrName>style.visibility</p:attrName>
                                        </p:attrNameLst>
                                      </p:cBhvr>
                                      <p:to>
                                        <p:strVal val="visible"/>
                                      </p:to>
                                    </p:set>
                                    <p:animEffect transition="in" filter="checkerboard(across)">
                                      <p:cBhvr>
                                        <p:cTn id="20" dur="500"/>
                                        <p:tgtEl>
                                          <p:spTgt spid="1597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5" name="Picture 2" descr="vais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3750" y="3751263"/>
            <a:ext cx="3514725" cy="26146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3666" name="Picture 3" descr="xyleme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2900" y="390525"/>
            <a:ext cx="2768600" cy="368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3667" name="Picture 4" descr="vaisseauxyle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9263" y="4535488"/>
            <a:ext cx="2541587" cy="2033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3668" name="Picture 5" descr="tracheides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90563" y="482600"/>
            <a:ext cx="3052762" cy="292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3669" name="Line 6"/>
          <p:cNvSpPr>
            <a:spLocks noChangeShapeType="1"/>
          </p:cNvSpPr>
          <p:nvPr/>
        </p:nvSpPr>
        <p:spPr bwMode="auto">
          <a:xfrm>
            <a:off x="4357688" y="5327650"/>
            <a:ext cx="1763712" cy="261938"/>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spAutoFit/>
          </a:bodyPr>
          <a:lstStyle/>
          <a:p>
            <a:endParaRPr lang="fr-FR"/>
          </a:p>
        </p:txBody>
      </p:sp>
      <p:sp>
        <p:nvSpPr>
          <p:cNvPr id="113670" name="ZoneTexte 6"/>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329827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89" name="Picture 2" descr="1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6513" y="485775"/>
            <a:ext cx="4768850" cy="3576638"/>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4690" name="Picture 3" descr="xyleme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3175000"/>
            <a:ext cx="3560762" cy="284797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14691" name="Text Box 4"/>
          <p:cNvSpPr txBox="1">
            <a:spLocks noChangeArrowheads="1"/>
          </p:cNvSpPr>
          <p:nvPr/>
        </p:nvSpPr>
        <p:spPr bwMode="auto">
          <a:xfrm>
            <a:off x="5997575" y="1803400"/>
            <a:ext cx="885825" cy="349250"/>
          </a:xfrm>
          <a:prstGeom prst="rect">
            <a:avLst/>
          </a:prstGeom>
          <a:solidFill>
            <a:srgbClr val="F5FAE8"/>
          </a:solidFill>
          <a:ln w="12700">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xylème</a:t>
            </a:r>
          </a:p>
        </p:txBody>
      </p:sp>
      <p:sp>
        <p:nvSpPr>
          <p:cNvPr id="161797" name="Line 5"/>
          <p:cNvSpPr>
            <a:spLocks noChangeShapeType="1"/>
          </p:cNvSpPr>
          <p:nvPr/>
        </p:nvSpPr>
        <p:spPr bwMode="auto">
          <a:xfrm>
            <a:off x="6500813" y="2157413"/>
            <a:ext cx="330200" cy="466725"/>
          </a:xfrm>
          <a:prstGeom prst="line">
            <a:avLst/>
          </a:prstGeom>
          <a:noFill/>
          <a:ln w="38100">
            <a:solidFill>
              <a:srgbClr val="FF3300"/>
            </a:solidFill>
            <a:round/>
            <a:headEnd/>
            <a:tailEn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61798" name="Line 6"/>
          <p:cNvSpPr>
            <a:spLocks noChangeShapeType="1"/>
          </p:cNvSpPr>
          <p:nvPr/>
        </p:nvSpPr>
        <p:spPr bwMode="auto">
          <a:xfrm flipV="1">
            <a:off x="5668963" y="1471613"/>
            <a:ext cx="2733675" cy="2020887"/>
          </a:xfrm>
          <a:prstGeom prst="line">
            <a:avLst/>
          </a:prstGeom>
          <a:noFill/>
          <a:ln w="38100">
            <a:solidFill>
              <a:srgbClr val="FF3300"/>
            </a:solidFill>
            <a:round/>
            <a:headEnd type="triangle" w="med" len="me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61799" name="Line 7"/>
          <p:cNvSpPr>
            <a:spLocks noChangeShapeType="1"/>
          </p:cNvSpPr>
          <p:nvPr/>
        </p:nvSpPr>
        <p:spPr bwMode="auto">
          <a:xfrm flipH="1">
            <a:off x="4618038" y="3713163"/>
            <a:ext cx="1544637" cy="657225"/>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61800" name="Rectangle 8"/>
          <p:cNvSpPr>
            <a:spLocks noChangeArrowheads="1"/>
          </p:cNvSpPr>
          <p:nvPr/>
        </p:nvSpPr>
        <p:spPr bwMode="auto">
          <a:xfrm>
            <a:off x="6162675" y="3484563"/>
            <a:ext cx="595313" cy="457200"/>
          </a:xfrm>
          <a:prstGeom prst="rect">
            <a:avLst/>
          </a:prstGeom>
          <a:noFill/>
          <a:ln w="38100" algn="ctr">
            <a:solidFill>
              <a:srgbClr val="FF3300"/>
            </a:solidFill>
            <a:miter lim="800000"/>
            <a:headEnd/>
            <a:tailEnd/>
          </a:ln>
          <a:effectLst>
            <a:outerShdw dist="35921" dir="2700000" algn="ctr" rotWithShape="0">
              <a:schemeClr val="tx1"/>
            </a:outerShdw>
          </a:effectLst>
        </p:spPr>
        <p:txBody>
          <a:bodyPr wrap="none" anchor="ctr">
            <a:spAutoFit/>
          </a:bodyPr>
          <a:lstStyle/>
          <a:p>
            <a:pPr>
              <a:defRPr/>
            </a:pPr>
            <a:endParaRPr lang="fr-FR">
              <a:ea typeface="+mn-ea"/>
              <a:cs typeface="+mn-cs"/>
            </a:endParaRPr>
          </a:p>
        </p:txBody>
      </p:sp>
      <p:sp>
        <p:nvSpPr>
          <p:cNvPr id="114696" name="Text Box 9"/>
          <p:cNvSpPr txBox="1">
            <a:spLocks noChangeArrowheads="1"/>
          </p:cNvSpPr>
          <p:nvPr/>
        </p:nvSpPr>
        <p:spPr bwMode="auto">
          <a:xfrm>
            <a:off x="5110163" y="4433888"/>
            <a:ext cx="3905250" cy="1938992"/>
          </a:xfrm>
          <a:prstGeom prst="rect">
            <a:avLst/>
          </a:prstGeom>
          <a:solidFill>
            <a:srgbClr val="F5FAE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CA" sz="1600" b="1" dirty="0">
                <a:solidFill>
                  <a:srgbClr val="000000"/>
                </a:solidFill>
                <a:latin typeface="Arial Narrow" panose="020B0606020202030204" pitchFamily="34" charset="0"/>
              </a:rPr>
              <a:t>Les conifères (Gymnospermes) ne contiennent que des </a:t>
            </a:r>
            <a:r>
              <a:rPr lang="fr-CA" sz="1600" b="1" dirty="0" err="1">
                <a:solidFill>
                  <a:srgbClr val="000000"/>
                </a:solidFill>
                <a:latin typeface="Arial Narrow" panose="020B0606020202030204" pitchFamily="34" charset="0"/>
              </a:rPr>
              <a:t>trachéïdes</a:t>
            </a:r>
            <a:r>
              <a:rPr lang="fr-CA" sz="1600" b="1" dirty="0">
                <a:solidFill>
                  <a:srgbClr val="000000"/>
                </a:solidFill>
                <a:latin typeface="Arial Narrow" panose="020B0606020202030204" pitchFamily="34" charset="0"/>
              </a:rPr>
              <a:t>. Les plantes à fleurs (Angiospermes) contiennent les deux types de vaisseaux.</a:t>
            </a:r>
          </a:p>
          <a:p>
            <a:pPr algn="just" eaLnBrk="1" hangingPunct="1">
              <a:spcBef>
                <a:spcPct val="50000"/>
              </a:spcBef>
            </a:pPr>
            <a:r>
              <a:rPr lang="fr-CA" sz="1600" b="1" dirty="0">
                <a:solidFill>
                  <a:srgbClr val="000000"/>
                </a:solidFill>
                <a:latin typeface="Arial Narrow" panose="020B0606020202030204" pitchFamily="34" charset="0"/>
              </a:rPr>
              <a:t>Le transport de la sève est plus efficace et rapide dans les vaisseaux que dans les </a:t>
            </a:r>
            <a:r>
              <a:rPr lang="fr-CA" sz="1600" b="1" dirty="0" err="1">
                <a:solidFill>
                  <a:srgbClr val="000000"/>
                </a:solidFill>
                <a:latin typeface="Arial Narrow" panose="020B0606020202030204" pitchFamily="34" charset="0"/>
              </a:rPr>
              <a:t>trachéïdes</a:t>
            </a:r>
            <a:endParaRPr lang="fr-CA" sz="1600" b="1" dirty="0">
              <a:solidFill>
                <a:srgbClr val="000000"/>
              </a:solidFill>
              <a:latin typeface="Arial Narrow" panose="020B0606020202030204" pitchFamily="34" charset="0"/>
            </a:endParaRPr>
          </a:p>
        </p:txBody>
      </p:sp>
      <p:sp>
        <p:nvSpPr>
          <p:cNvPr id="114697" name="Text Box 10"/>
          <p:cNvSpPr txBox="1">
            <a:spLocks noChangeArrowheads="1"/>
          </p:cNvSpPr>
          <p:nvPr/>
        </p:nvSpPr>
        <p:spPr bwMode="auto">
          <a:xfrm>
            <a:off x="122238" y="5470525"/>
            <a:ext cx="3163887" cy="830997"/>
          </a:xfrm>
          <a:prstGeom prst="rect">
            <a:avLst/>
          </a:prstGeom>
          <a:solidFill>
            <a:srgbClr val="F5FAE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dirty="0">
                <a:solidFill>
                  <a:srgbClr val="000000"/>
                </a:solidFill>
                <a:latin typeface="Arial Narrow" panose="020B0606020202030204" pitchFamily="34" charset="0"/>
              </a:rPr>
              <a:t>Le xylème constitue le bois des plantes ligneuses</a:t>
            </a:r>
          </a:p>
        </p:txBody>
      </p:sp>
      <p:pic>
        <p:nvPicPr>
          <p:cNvPr id="114698" name="Picture 11" descr="stem3ans"/>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9563" y="130175"/>
            <a:ext cx="3300412" cy="3106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1804" name="Line 12"/>
          <p:cNvSpPr>
            <a:spLocks noChangeShapeType="1"/>
          </p:cNvSpPr>
          <p:nvPr/>
        </p:nvSpPr>
        <p:spPr bwMode="auto">
          <a:xfrm>
            <a:off x="2752725" y="1809750"/>
            <a:ext cx="1055688" cy="9525"/>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14700" name="ZoneTexte 12"/>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453862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ext Box 2"/>
          <p:cNvSpPr txBox="1">
            <a:spLocks noChangeArrowheads="1"/>
          </p:cNvSpPr>
          <p:nvPr/>
        </p:nvSpPr>
        <p:spPr bwMode="auto">
          <a:xfrm>
            <a:off x="412750" y="200025"/>
            <a:ext cx="2266950" cy="57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3200" b="1"/>
              <a:t>Phloème</a:t>
            </a:r>
            <a:endParaRPr lang="fr-CA"/>
          </a:p>
        </p:txBody>
      </p:sp>
      <p:pic>
        <p:nvPicPr>
          <p:cNvPr id="163843" name="Picture 3" descr="phloemlsf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9465"/>
          <a:stretch>
            <a:fillRect/>
          </a:stretch>
        </p:blipFill>
        <p:spPr bwMode="auto">
          <a:xfrm>
            <a:off x="290513" y="3860800"/>
            <a:ext cx="5086350" cy="2794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3844" name="Text Box 4"/>
          <p:cNvSpPr txBox="1">
            <a:spLocks noChangeArrowheads="1"/>
          </p:cNvSpPr>
          <p:nvPr/>
        </p:nvSpPr>
        <p:spPr bwMode="auto">
          <a:xfrm>
            <a:off x="456407" y="1589185"/>
            <a:ext cx="4425950"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182563" indent="-18256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dirty="0">
                <a:latin typeface="Arial Narrow" panose="020B0606020202030204" pitchFamily="34" charset="0"/>
              </a:rPr>
              <a:t>Formé de :</a:t>
            </a:r>
          </a:p>
          <a:p>
            <a:pPr eaLnBrk="1" hangingPunct="1">
              <a:spcBef>
                <a:spcPct val="50000"/>
              </a:spcBef>
              <a:buFontTx/>
              <a:buChar char="•"/>
            </a:pPr>
            <a:r>
              <a:rPr lang="fr-CA" dirty="0">
                <a:latin typeface="Arial Narrow" panose="020B0606020202030204" pitchFamily="34" charset="0"/>
              </a:rPr>
              <a:t>Cellules des tubes criblés</a:t>
            </a:r>
          </a:p>
          <a:p>
            <a:pPr eaLnBrk="1" hangingPunct="1">
              <a:spcBef>
                <a:spcPct val="50000"/>
              </a:spcBef>
              <a:buFontTx/>
              <a:buChar char="•"/>
            </a:pPr>
            <a:r>
              <a:rPr lang="fr-CA" dirty="0">
                <a:latin typeface="Arial Narrow" panose="020B0606020202030204" pitchFamily="34" charset="0"/>
              </a:rPr>
              <a:t>Cellules compagnes</a:t>
            </a:r>
          </a:p>
        </p:txBody>
      </p:sp>
      <p:pic>
        <p:nvPicPr>
          <p:cNvPr id="163845" name="Picture 5" descr="phloem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048250" y="0"/>
            <a:ext cx="4095750" cy="4627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3846" name="Picture 6" descr="SievePlatf"/>
          <p:cNvPicPr>
            <a:picLocks noChangeAspect="1" noChangeArrowheads="1"/>
          </p:cNvPicPr>
          <p:nvPr/>
        </p:nvPicPr>
        <p:blipFill>
          <a:blip r:embed="rId4">
            <a:clrChange>
              <a:clrFrom>
                <a:srgbClr val="FAFCF7"/>
              </a:clrFrom>
              <a:clrTo>
                <a:srgbClr val="FAFCF7">
                  <a:alpha val="0"/>
                </a:srgbClr>
              </a:clrTo>
            </a:clrChange>
            <a:extLst>
              <a:ext uri="{28A0092B-C50C-407E-A947-70E740481C1C}">
                <a14:useLocalDpi xmlns:a14="http://schemas.microsoft.com/office/drawing/2010/main" val="0"/>
              </a:ext>
            </a:extLst>
          </a:blip>
          <a:srcRect/>
          <a:stretch>
            <a:fillRect/>
          </a:stretch>
        </p:blipFill>
        <p:spPr bwMode="auto">
          <a:xfrm>
            <a:off x="6464300" y="4768850"/>
            <a:ext cx="1895475" cy="167957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sp>
        <p:nvSpPr>
          <p:cNvPr id="163847" name="Text Box 7"/>
          <p:cNvSpPr txBox="1">
            <a:spLocks noChangeArrowheads="1"/>
          </p:cNvSpPr>
          <p:nvPr/>
        </p:nvSpPr>
        <p:spPr bwMode="auto">
          <a:xfrm>
            <a:off x="6792913" y="6427788"/>
            <a:ext cx="1249362"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400" b="1"/>
              <a:t>Paroi criblée</a:t>
            </a:r>
          </a:p>
        </p:txBody>
      </p:sp>
      <p:sp>
        <p:nvSpPr>
          <p:cNvPr id="115719" name="Text Box 8"/>
          <p:cNvSpPr txBox="1">
            <a:spLocks noChangeArrowheads="1"/>
          </p:cNvSpPr>
          <p:nvPr/>
        </p:nvSpPr>
        <p:spPr bwMode="auto">
          <a:xfrm>
            <a:off x="3071813" y="109538"/>
            <a:ext cx="2679700" cy="1079500"/>
          </a:xfrm>
          <a:prstGeom prst="rect">
            <a:avLst/>
          </a:prstGeom>
          <a:solidFill>
            <a:srgbClr val="F5FAE8"/>
          </a:solidFill>
          <a:ln w="9525">
            <a:solidFill>
              <a:schemeClr val="tx1"/>
            </a:solidFill>
            <a:miter lim="800000"/>
            <a:headEnd/>
            <a:tailEnd/>
          </a:ln>
        </p:spPr>
        <p:txBody>
          <a:bodyPr>
            <a:spAutoFit/>
          </a:bodyPr>
          <a:lstStyle>
            <a:lvl1pPr marL="265113" indent="-26511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600" b="1">
                <a:solidFill>
                  <a:srgbClr val="000000"/>
                </a:solidFill>
              </a:rPr>
              <a:t>4. </a:t>
            </a:r>
            <a:r>
              <a:rPr lang="fr-CA" sz="1400" b="1">
                <a:solidFill>
                  <a:srgbClr val="000000"/>
                </a:solidFill>
              </a:rPr>
              <a:t>TISSUS VASCULAIRES</a:t>
            </a:r>
          </a:p>
          <a:p>
            <a:pPr eaLnBrk="1" hangingPunct="1">
              <a:spcBef>
                <a:spcPct val="50000"/>
              </a:spcBef>
              <a:buFontTx/>
              <a:buChar char="•"/>
            </a:pPr>
            <a:r>
              <a:rPr lang="fr-CA" sz="1600" b="1">
                <a:solidFill>
                  <a:srgbClr val="000000"/>
                </a:solidFill>
              </a:rPr>
              <a:t>Xylème</a:t>
            </a:r>
          </a:p>
          <a:p>
            <a:pPr eaLnBrk="1" hangingPunct="1">
              <a:spcBef>
                <a:spcPct val="50000"/>
              </a:spcBef>
              <a:buFontTx/>
              <a:buChar char="•"/>
            </a:pPr>
            <a:r>
              <a:rPr lang="fr-CA" sz="1600" b="1">
                <a:solidFill>
                  <a:srgbClr val="000000"/>
                </a:solidFill>
              </a:rPr>
              <a:t>Phloème</a:t>
            </a:r>
          </a:p>
        </p:txBody>
      </p:sp>
      <p:sp>
        <p:nvSpPr>
          <p:cNvPr id="115720" name="ZoneTexte 8"/>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40117158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3844"/>
                                        </p:tgtEl>
                                        <p:attrNameLst>
                                          <p:attrName>style.visibility</p:attrName>
                                        </p:attrNameLst>
                                      </p:cBhvr>
                                      <p:to>
                                        <p:strVal val="visible"/>
                                      </p:to>
                                    </p:set>
                                    <p:animEffect transition="in" filter="checkerboard(across)">
                                      <p:cBhvr>
                                        <p:cTn id="7" dur="500"/>
                                        <p:tgtEl>
                                          <p:spTgt spid="163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63845"/>
                                        </p:tgtEl>
                                        <p:attrNameLst>
                                          <p:attrName>style.visibility</p:attrName>
                                        </p:attrNameLst>
                                      </p:cBhvr>
                                      <p:to>
                                        <p:strVal val="visible"/>
                                      </p:to>
                                    </p:set>
                                    <p:animEffect transition="in" filter="checkerboard(across)">
                                      <p:cBhvr>
                                        <p:cTn id="12" dur="500"/>
                                        <p:tgtEl>
                                          <p:spTgt spid="1638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63843"/>
                                        </p:tgtEl>
                                        <p:attrNameLst>
                                          <p:attrName>style.visibility</p:attrName>
                                        </p:attrNameLst>
                                      </p:cBhvr>
                                      <p:to>
                                        <p:strVal val="visible"/>
                                      </p:to>
                                    </p:set>
                                    <p:animEffect transition="in" filter="checkerboard(across)">
                                      <p:cBhvr>
                                        <p:cTn id="17" dur="500"/>
                                        <p:tgtEl>
                                          <p:spTgt spid="1638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63846"/>
                                        </p:tgtEl>
                                        <p:attrNameLst>
                                          <p:attrName>style.visibility</p:attrName>
                                        </p:attrNameLst>
                                      </p:cBhvr>
                                      <p:to>
                                        <p:strVal val="visible"/>
                                      </p:to>
                                    </p:set>
                                    <p:animEffect transition="in" filter="checkerboard(across)">
                                      <p:cBhvr>
                                        <p:cTn id="22" dur="500"/>
                                        <p:tgtEl>
                                          <p:spTgt spid="1638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63847"/>
                                        </p:tgtEl>
                                        <p:attrNameLst>
                                          <p:attrName>style.visibility</p:attrName>
                                        </p:attrNameLst>
                                      </p:cBhvr>
                                      <p:to>
                                        <p:strVal val="visible"/>
                                      </p:to>
                                    </p:set>
                                    <p:animEffect transition="in" filter="checkerboard(across)">
                                      <p:cBhvr>
                                        <p:cTn id="27" dur="500"/>
                                        <p:tgtEl>
                                          <p:spTgt spid="163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p:bldP spid="16384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Text Box 2"/>
          <p:cNvSpPr txBox="1">
            <a:spLocks noChangeArrowheads="1"/>
          </p:cNvSpPr>
          <p:nvPr/>
        </p:nvSpPr>
        <p:spPr bwMode="auto">
          <a:xfrm>
            <a:off x="273844" y="1134011"/>
            <a:ext cx="5468937" cy="378565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marL="182563" indent="-182563"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just" eaLnBrk="1" hangingPunct="1">
              <a:spcBef>
                <a:spcPct val="50000"/>
              </a:spcBef>
            </a:pPr>
            <a:r>
              <a:rPr lang="fr-CA" b="1" dirty="0">
                <a:latin typeface="Arial Narrow" panose="020B0606020202030204" pitchFamily="34" charset="0"/>
              </a:rPr>
              <a:t>Cellules des tubes criblés :</a:t>
            </a:r>
          </a:p>
          <a:p>
            <a:pPr algn="just" eaLnBrk="1" hangingPunct="1">
              <a:spcBef>
                <a:spcPct val="50000"/>
              </a:spcBef>
              <a:buFontTx/>
              <a:buChar char="•"/>
            </a:pPr>
            <a:r>
              <a:rPr lang="fr-CA" dirty="0">
                <a:latin typeface="Arial Narrow" panose="020B0606020202030204" pitchFamily="34" charset="0"/>
              </a:rPr>
              <a:t>Vivantes (mais ne vivent généralement pas plus d’un an)</a:t>
            </a:r>
          </a:p>
          <a:p>
            <a:pPr algn="just" eaLnBrk="1" hangingPunct="1">
              <a:spcBef>
                <a:spcPct val="50000"/>
              </a:spcBef>
              <a:buFontTx/>
              <a:buChar char="•"/>
            </a:pPr>
            <a:r>
              <a:rPr lang="fr-CA" dirty="0">
                <a:latin typeface="Arial Narrow" panose="020B0606020202030204" pitchFamily="34" charset="0"/>
              </a:rPr>
              <a:t>Dépourvues de noyau</a:t>
            </a:r>
          </a:p>
          <a:p>
            <a:pPr algn="just" eaLnBrk="1" hangingPunct="1">
              <a:spcBef>
                <a:spcPct val="50000"/>
              </a:spcBef>
              <a:buFontTx/>
              <a:buChar char="•"/>
            </a:pPr>
            <a:r>
              <a:rPr lang="fr-CA" dirty="0">
                <a:latin typeface="Arial Narrow" panose="020B0606020202030204" pitchFamily="34" charset="0"/>
              </a:rPr>
              <a:t>Parois transversales « criblées » : permet la diffusion de substances d’une cellule à l’autre</a:t>
            </a:r>
          </a:p>
          <a:p>
            <a:pPr algn="just" eaLnBrk="1" hangingPunct="1">
              <a:spcBef>
                <a:spcPct val="50000"/>
              </a:spcBef>
              <a:buFontTx/>
              <a:buChar char="•"/>
            </a:pPr>
            <a:r>
              <a:rPr lang="fr-CA" dirty="0">
                <a:latin typeface="Arial Narrow" panose="020B0606020202030204" pitchFamily="34" charset="0"/>
              </a:rPr>
              <a:t>Besoins assurés par les cellules compagnes (qui, elles, possèdent un noyau) </a:t>
            </a:r>
          </a:p>
        </p:txBody>
      </p:sp>
      <p:sp>
        <p:nvSpPr>
          <p:cNvPr id="116738" name="Line 3"/>
          <p:cNvSpPr>
            <a:spLocks noChangeShapeType="1"/>
          </p:cNvSpPr>
          <p:nvPr/>
        </p:nvSpPr>
        <p:spPr bwMode="auto">
          <a:xfrm flipV="1">
            <a:off x="3008313" y="4919663"/>
            <a:ext cx="1060450" cy="219075"/>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a:spAutoFit/>
          </a:bodyPr>
          <a:lstStyle/>
          <a:p>
            <a:endParaRPr lang="fr-FR"/>
          </a:p>
        </p:txBody>
      </p:sp>
      <p:pic>
        <p:nvPicPr>
          <p:cNvPr id="116739" name="Picture 4" descr="phloem"/>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680075" y="1317625"/>
            <a:ext cx="3346450" cy="2024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6740" name="ZoneTexte 4"/>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a:solidFill>
                  <a:srgbClr val="333399"/>
                </a:solidFill>
              </a:rPr>
              <a:t>Séance 2 </a:t>
            </a:r>
            <a:endParaRPr lang="fr-FR" sz="1800"/>
          </a:p>
        </p:txBody>
      </p:sp>
    </p:spTree>
    <p:extLst>
      <p:ext uri="{BB962C8B-B14F-4D97-AF65-F5344CB8AC3E}">
        <p14:creationId xmlns:p14="http://schemas.microsoft.com/office/powerpoint/2010/main" val="828096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64866">
                                            <p:txEl>
                                              <p:pRg st="0" end="0"/>
                                            </p:txEl>
                                          </p:spTgt>
                                        </p:tgtEl>
                                        <p:attrNameLst>
                                          <p:attrName>style.visibility</p:attrName>
                                        </p:attrNameLst>
                                      </p:cBhvr>
                                      <p:to>
                                        <p:strVal val="visible"/>
                                      </p:to>
                                    </p:set>
                                    <p:animEffect transition="in" filter="checkerboard(across)">
                                      <p:cBhvr>
                                        <p:cTn id="7" dur="500"/>
                                        <p:tgtEl>
                                          <p:spTgt spid="164866">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64866">
                                            <p:txEl>
                                              <p:pRg st="1" end="1"/>
                                            </p:txEl>
                                          </p:spTgt>
                                        </p:tgtEl>
                                        <p:attrNameLst>
                                          <p:attrName>style.visibility</p:attrName>
                                        </p:attrNameLst>
                                      </p:cBhvr>
                                      <p:to>
                                        <p:strVal val="visible"/>
                                      </p:to>
                                    </p:set>
                                    <p:animEffect transition="in" filter="checkerboard(across)">
                                      <p:cBhvr>
                                        <p:cTn id="10" dur="500"/>
                                        <p:tgtEl>
                                          <p:spTgt spid="164866">
                                            <p:txEl>
                                              <p:pRg st="1" end="1"/>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64866">
                                            <p:txEl>
                                              <p:pRg st="2" end="2"/>
                                            </p:txEl>
                                          </p:spTgt>
                                        </p:tgtEl>
                                        <p:attrNameLst>
                                          <p:attrName>style.visibility</p:attrName>
                                        </p:attrNameLst>
                                      </p:cBhvr>
                                      <p:to>
                                        <p:strVal val="visible"/>
                                      </p:to>
                                    </p:set>
                                    <p:animEffect transition="in" filter="checkerboard(across)">
                                      <p:cBhvr>
                                        <p:cTn id="13" dur="500"/>
                                        <p:tgtEl>
                                          <p:spTgt spid="164866">
                                            <p:txEl>
                                              <p:pRg st="2" end="2"/>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64866">
                                            <p:txEl>
                                              <p:pRg st="3" end="3"/>
                                            </p:txEl>
                                          </p:spTgt>
                                        </p:tgtEl>
                                        <p:attrNameLst>
                                          <p:attrName>style.visibility</p:attrName>
                                        </p:attrNameLst>
                                      </p:cBhvr>
                                      <p:to>
                                        <p:strVal val="visible"/>
                                      </p:to>
                                    </p:set>
                                    <p:animEffect transition="in" filter="checkerboard(across)">
                                      <p:cBhvr>
                                        <p:cTn id="16" dur="500"/>
                                        <p:tgtEl>
                                          <p:spTgt spid="164866">
                                            <p:txEl>
                                              <p:pRg st="3" end="3"/>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164866">
                                            <p:txEl>
                                              <p:pRg st="4" end="4"/>
                                            </p:txEl>
                                          </p:spTgt>
                                        </p:tgtEl>
                                        <p:attrNameLst>
                                          <p:attrName>style.visibility</p:attrName>
                                        </p:attrNameLst>
                                      </p:cBhvr>
                                      <p:to>
                                        <p:strVal val="visible"/>
                                      </p:to>
                                    </p:set>
                                    <p:animEffect transition="in" filter="checkerboard(across)">
                                      <p:cBhvr>
                                        <p:cTn id="19" dur="500"/>
                                        <p:tgtEl>
                                          <p:spTgt spid="16486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1" name="Picture 2" descr="cambiumvascul"/>
          <p:cNvPicPr>
            <a:picLocks noChangeAspect="1" noChangeArrowheads="1"/>
          </p:cNvPicPr>
          <p:nvPr/>
        </p:nvPicPr>
        <p:blipFill>
          <a:blip r:embed="rId2">
            <a:extLst>
              <a:ext uri="{28A0092B-C50C-407E-A947-70E740481C1C}">
                <a14:useLocalDpi xmlns:a14="http://schemas.microsoft.com/office/drawing/2010/main" val="0"/>
              </a:ext>
            </a:extLst>
          </a:blip>
          <a:srcRect l="30991" r="18065" b="47099"/>
          <a:stretch>
            <a:fillRect/>
          </a:stretch>
        </p:blipFill>
        <p:spPr bwMode="auto">
          <a:xfrm>
            <a:off x="5908675" y="4375150"/>
            <a:ext cx="2755900" cy="2289175"/>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62" name="Picture 3" descr="Bark%20MC"/>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03713" y="176213"/>
            <a:ext cx="4097337" cy="3278187"/>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63" name="Picture 4" descr="phloe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9638" y="3011488"/>
            <a:ext cx="3287712" cy="3668712"/>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pic>
      <p:pic>
        <p:nvPicPr>
          <p:cNvPr id="117764" name="Picture 5" descr="stem3ans"/>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0350" y="141288"/>
            <a:ext cx="3105150" cy="2922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5894" name="Line 6"/>
          <p:cNvSpPr>
            <a:spLocks noChangeShapeType="1"/>
          </p:cNvSpPr>
          <p:nvPr/>
        </p:nvSpPr>
        <p:spPr bwMode="auto">
          <a:xfrm>
            <a:off x="2203450" y="265113"/>
            <a:ext cx="2039938" cy="393700"/>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65895" name="Rectangle 7"/>
          <p:cNvSpPr>
            <a:spLocks noChangeArrowheads="1"/>
          </p:cNvSpPr>
          <p:nvPr/>
        </p:nvSpPr>
        <p:spPr bwMode="auto">
          <a:xfrm>
            <a:off x="1463675" y="136525"/>
            <a:ext cx="730250" cy="576263"/>
          </a:xfrm>
          <a:prstGeom prst="rect">
            <a:avLst/>
          </a:prstGeom>
          <a:noFill/>
          <a:ln w="38100" algn="ctr">
            <a:solidFill>
              <a:srgbClr val="FF3300"/>
            </a:solidFill>
            <a:miter lim="800000"/>
            <a:headEnd/>
            <a:tailEnd/>
          </a:ln>
          <a:effectLst>
            <a:outerShdw dist="35921" dir="2700000" algn="ctr" rotWithShape="0">
              <a:schemeClr val="tx1"/>
            </a:outerShdw>
          </a:effectLst>
        </p:spPr>
        <p:txBody>
          <a:bodyPr wrap="none" anchor="ctr">
            <a:spAutoFit/>
          </a:bodyPr>
          <a:lstStyle/>
          <a:p>
            <a:pPr>
              <a:defRPr/>
            </a:pPr>
            <a:endParaRPr lang="fr-FR">
              <a:ea typeface="+mn-ea"/>
              <a:cs typeface="+mn-cs"/>
            </a:endParaRPr>
          </a:p>
        </p:txBody>
      </p:sp>
      <p:sp>
        <p:nvSpPr>
          <p:cNvPr id="165896" name="Line 8"/>
          <p:cNvSpPr>
            <a:spLocks noChangeShapeType="1"/>
          </p:cNvSpPr>
          <p:nvPr/>
        </p:nvSpPr>
        <p:spPr bwMode="auto">
          <a:xfrm flipH="1">
            <a:off x="4251325" y="2376488"/>
            <a:ext cx="906463" cy="1327150"/>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17768" name="Oval 9"/>
          <p:cNvSpPr>
            <a:spLocks noChangeArrowheads="1"/>
          </p:cNvSpPr>
          <p:nvPr/>
        </p:nvSpPr>
        <p:spPr bwMode="auto">
          <a:xfrm>
            <a:off x="1736725" y="3949700"/>
            <a:ext cx="887413" cy="1390650"/>
          </a:xfrm>
          <a:prstGeom prst="ellipse">
            <a:avLst/>
          </a:prstGeom>
          <a:noFill/>
          <a:ln w="381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anchor="ctr">
            <a:spAutoFit/>
          </a:bodyPr>
          <a:lstStyle/>
          <a:p>
            <a:endParaRPr lang="fr-FR"/>
          </a:p>
        </p:txBody>
      </p:sp>
      <p:sp>
        <p:nvSpPr>
          <p:cNvPr id="117769" name="Line 10"/>
          <p:cNvSpPr>
            <a:spLocks noChangeShapeType="1"/>
          </p:cNvSpPr>
          <p:nvPr/>
        </p:nvSpPr>
        <p:spPr bwMode="auto">
          <a:xfrm flipV="1">
            <a:off x="2606675" y="4471988"/>
            <a:ext cx="1955800" cy="7937"/>
          </a:xfrm>
          <a:prstGeom prst="line">
            <a:avLst/>
          </a:prstGeom>
          <a:noFill/>
          <a:ln w="38100">
            <a:solidFill>
              <a:schemeClr val="tx1"/>
            </a:solidFill>
            <a:round/>
            <a:headEnd type="triangle" w="med" len="med"/>
            <a:tailEnd/>
          </a:ln>
          <a:extLst>
            <a:ext uri="{909E8E84-426E-40dd-AFC4-6F175D3DCCD1}">
              <a14:hiddenFill xmlns="" xmlns:a14="http://schemas.microsoft.com/office/drawing/2010/main">
                <a:noFill/>
              </a14:hiddenFill>
            </a:ext>
          </a:extLst>
        </p:spPr>
        <p:txBody>
          <a:bodyPr>
            <a:spAutoFit/>
          </a:bodyPr>
          <a:lstStyle/>
          <a:p>
            <a:endParaRPr lang="fr-FR"/>
          </a:p>
        </p:txBody>
      </p:sp>
      <p:sp>
        <p:nvSpPr>
          <p:cNvPr id="117770" name="Line 11"/>
          <p:cNvSpPr>
            <a:spLocks noChangeShapeType="1"/>
          </p:cNvSpPr>
          <p:nvPr/>
        </p:nvSpPr>
        <p:spPr bwMode="auto">
          <a:xfrm>
            <a:off x="5286375" y="4699000"/>
            <a:ext cx="584200" cy="366713"/>
          </a:xfrm>
          <a:prstGeom prst="line">
            <a:avLst/>
          </a:prstGeom>
          <a:noFill/>
          <a:ln w="38100">
            <a:solidFill>
              <a:schemeClr val="tx1"/>
            </a:solidFill>
            <a:round/>
            <a:headEnd/>
            <a:tailEnd type="triangle" w="med" len="med"/>
          </a:ln>
          <a:extLst>
            <a:ext uri="{909E8E84-426E-40dd-AFC4-6F175D3DCCD1}">
              <a14:hiddenFill xmlns="" xmlns:a14="http://schemas.microsoft.com/office/drawing/2010/main">
                <a:noFill/>
              </a14:hiddenFill>
            </a:ext>
          </a:extLst>
        </p:spPr>
        <p:txBody>
          <a:bodyPr>
            <a:spAutoFit/>
          </a:bodyPr>
          <a:lstStyle/>
          <a:p>
            <a:endParaRPr lang="fr-FR"/>
          </a:p>
        </p:txBody>
      </p:sp>
      <p:sp>
        <p:nvSpPr>
          <p:cNvPr id="165900" name="Rectangle 12"/>
          <p:cNvSpPr>
            <a:spLocks noChangeArrowheads="1"/>
          </p:cNvSpPr>
          <p:nvPr/>
        </p:nvSpPr>
        <p:spPr bwMode="auto">
          <a:xfrm>
            <a:off x="4560888" y="998538"/>
            <a:ext cx="1079500" cy="1387475"/>
          </a:xfrm>
          <a:prstGeom prst="rect">
            <a:avLst/>
          </a:prstGeom>
          <a:noFill/>
          <a:ln w="38100" algn="ctr">
            <a:solidFill>
              <a:srgbClr val="FF3300"/>
            </a:solidFill>
            <a:miter lim="800000"/>
            <a:headEnd/>
            <a:tailEnd/>
          </a:ln>
          <a:effectLst>
            <a:outerShdw dist="35921" dir="2700000" algn="ctr" rotWithShape="0">
              <a:schemeClr val="tx1"/>
            </a:outerShdw>
          </a:effectLst>
        </p:spPr>
        <p:txBody>
          <a:bodyPr anchor="ctr">
            <a:spAutoFit/>
          </a:bodyPr>
          <a:lstStyle/>
          <a:p>
            <a:pPr>
              <a:defRPr/>
            </a:pPr>
            <a:endParaRPr lang="fr-FR">
              <a:ea typeface="+mn-ea"/>
              <a:cs typeface="+mn-cs"/>
            </a:endParaRPr>
          </a:p>
        </p:txBody>
      </p:sp>
      <p:sp>
        <p:nvSpPr>
          <p:cNvPr id="165901" name="Line 13"/>
          <p:cNvSpPr>
            <a:spLocks noChangeShapeType="1"/>
          </p:cNvSpPr>
          <p:nvPr/>
        </p:nvSpPr>
        <p:spPr bwMode="auto">
          <a:xfrm flipV="1">
            <a:off x="6134100" y="5843588"/>
            <a:ext cx="560388" cy="373062"/>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17773" name="Text Box 14"/>
          <p:cNvSpPr txBox="1">
            <a:spLocks noChangeArrowheads="1"/>
          </p:cNvSpPr>
          <p:nvPr/>
        </p:nvSpPr>
        <p:spPr bwMode="auto">
          <a:xfrm>
            <a:off x="5010150" y="5976938"/>
            <a:ext cx="1165225" cy="527050"/>
          </a:xfrm>
          <a:prstGeom prst="rect">
            <a:avLst/>
          </a:prstGeom>
          <a:solidFill>
            <a:srgbClr val="D2EED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400" b="1">
                <a:solidFill>
                  <a:srgbClr val="000000"/>
                </a:solidFill>
              </a:rPr>
              <a:t>Cellule compagne</a:t>
            </a:r>
          </a:p>
        </p:txBody>
      </p:sp>
      <p:sp>
        <p:nvSpPr>
          <p:cNvPr id="165903" name="Line 15"/>
          <p:cNvSpPr>
            <a:spLocks noChangeShapeType="1"/>
          </p:cNvSpPr>
          <p:nvPr/>
        </p:nvSpPr>
        <p:spPr bwMode="auto">
          <a:xfrm flipH="1">
            <a:off x="7626350" y="4618038"/>
            <a:ext cx="493713" cy="768350"/>
          </a:xfrm>
          <a:prstGeom prst="line">
            <a:avLst/>
          </a:prstGeom>
          <a:noFill/>
          <a:ln w="38100">
            <a:solidFill>
              <a:srgbClr val="FF3300"/>
            </a:solidFill>
            <a:round/>
            <a:headEnd/>
            <a:tailEnd type="triangle" w="med" len="med"/>
          </a:ln>
          <a:effectLst>
            <a:outerShdw dist="35921" dir="2700000" algn="ctr" rotWithShape="0">
              <a:schemeClr val="tx1"/>
            </a:outerShdw>
          </a:effectLst>
        </p:spPr>
        <p:txBody>
          <a:bodyPr>
            <a:spAutoFit/>
          </a:bodyPr>
          <a:lstStyle/>
          <a:p>
            <a:pPr>
              <a:defRPr/>
            </a:pPr>
            <a:endParaRPr lang="fr-FR">
              <a:ea typeface="+mn-ea"/>
              <a:cs typeface="+mn-cs"/>
            </a:endParaRPr>
          </a:p>
        </p:txBody>
      </p:sp>
      <p:sp>
        <p:nvSpPr>
          <p:cNvPr id="117775" name="Text Box 16"/>
          <p:cNvSpPr txBox="1">
            <a:spLocks noChangeArrowheads="1"/>
          </p:cNvSpPr>
          <p:nvPr/>
        </p:nvSpPr>
        <p:spPr bwMode="auto">
          <a:xfrm>
            <a:off x="7704138" y="4108450"/>
            <a:ext cx="1165225" cy="527050"/>
          </a:xfrm>
          <a:prstGeom prst="rect">
            <a:avLst/>
          </a:prstGeom>
          <a:solidFill>
            <a:srgbClr val="D2EED8"/>
          </a:solidFill>
          <a:ln w="9525">
            <a:solidFill>
              <a:schemeClr val="tx1"/>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sz="1400">
                <a:solidFill>
                  <a:srgbClr val="000000"/>
                </a:solidFill>
              </a:rPr>
              <a:t>Cellule de tube criblé</a:t>
            </a:r>
          </a:p>
        </p:txBody>
      </p:sp>
      <p:sp>
        <p:nvSpPr>
          <p:cNvPr id="117776" name="Text Box 17"/>
          <p:cNvSpPr txBox="1">
            <a:spLocks noChangeArrowheads="1"/>
          </p:cNvSpPr>
          <p:nvPr/>
        </p:nvSpPr>
        <p:spPr bwMode="auto">
          <a:xfrm>
            <a:off x="4424363" y="4257675"/>
            <a:ext cx="1473200" cy="476250"/>
          </a:xfrm>
          <a:prstGeom prst="rect">
            <a:avLst/>
          </a:prstGeom>
          <a:solidFill>
            <a:srgbClr val="F5FAE8"/>
          </a:solidFill>
          <a:ln w="19050">
            <a:solidFill>
              <a:schemeClr val="tx1"/>
            </a:solidFill>
            <a:miter lim="800000"/>
            <a:headEnd/>
            <a:tailEnd/>
          </a:ln>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spcBef>
                <a:spcPct val="50000"/>
              </a:spcBef>
            </a:pPr>
            <a:r>
              <a:rPr lang="fr-CA" b="1">
                <a:solidFill>
                  <a:srgbClr val="000000"/>
                </a:solidFill>
              </a:rPr>
              <a:t>Phloème</a:t>
            </a:r>
          </a:p>
        </p:txBody>
      </p:sp>
      <p:sp>
        <p:nvSpPr>
          <p:cNvPr id="117777" name="ZoneTexte 1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13327791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899592" y="253533"/>
            <a:ext cx="7344816" cy="6361933"/>
          </a:xfrm>
          <a:prstGeom prst="rect">
            <a:avLst/>
          </a:prstGeom>
        </p:spPr>
      </p:pic>
      <p:sp>
        <p:nvSpPr>
          <p:cNvPr id="3" name="ZoneTexte 1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42238665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0" y="406400"/>
            <a:ext cx="9144000" cy="6027821"/>
          </a:xfrm>
          <a:prstGeom prst="rect">
            <a:avLst/>
          </a:prstGeom>
        </p:spPr>
      </p:pic>
      <p:sp>
        <p:nvSpPr>
          <p:cNvPr id="3" name="ZoneTexte 17"/>
          <p:cNvSpPr txBox="1">
            <a:spLocks noChangeArrowheads="1"/>
          </p:cNvSpPr>
          <p:nvPr/>
        </p:nvSpPr>
        <p:spPr bwMode="auto">
          <a:xfrm>
            <a:off x="6978650" y="19050"/>
            <a:ext cx="2160588" cy="369888"/>
          </a:xfrm>
          <a:prstGeom prst="rect">
            <a:avLst/>
          </a:prstGeom>
          <a:solidFill>
            <a:srgbClr val="CCFFCC"/>
          </a:solidFill>
          <a:ln w="9525">
            <a:solidFill>
              <a:srgbClr val="FF6600"/>
            </a:solidFill>
            <a:miter lim="800000"/>
            <a:headEnd/>
            <a:tailEnd/>
          </a:ln>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fr-FR" sz="1800" dirty="0">
                <a:solidFill>
                  <a:srgbClr val="333399"/>
                </a:solidFill>
              </a:rPr>
              <a:t>Séance 2 </a:t>
            </a:r>
            <a:endParaRPr lang="fr-FR" sz="1800" dirty="0"/>
          </a:p>
        </p:txBody>
      </p:sp>
    </p:spTree>
    <p:extLst>
      <p:ext uri="{BB962C8B-B14F-4D97-AF65-F5344CB8AC3E}">
        <p14:creationId xmlns:p14="http://schemas.microsoft.com/office/powerpoint/2010/main" val="1672618903"/>
      </p:ext>
    </p:extLst>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1979</Words>
  <Application>Microsoft Office PowerPoint</Application>
  <PresentationFormat>Affichage à l'écran (4:3)</PresentationFormat>
  <Paragraphs>269</Paragraphs>
  <Slides>50</Slides>
  <Notes>1</Notes>
  <HiddenSlides>0</HiddenSlides>
  <MMClips>0</MMClips>
  <ScaleCrop>false</ScaleCrop>
  <HeadingPairs>
    <vt:vector size="4" baseType="variant">
      <vt:variant>
        <vt:lpstr>Thème</vt:lpstr>
      </vt:variant>
      <vt:variant>
        <vt:i4>1</vt:i4>
      </vt:variant>
      <vt:variant>
        <vt:lpstr>Titres des diapositives</vt:lpstr>
      </vt:variant>
      <vt:variant>
        <vt:i4>50</vt:i4>
      </vt:variant>
    </vt:vector>
  </HeadingPairs>
  <TitlesOfParts>
    <vt:vector size="51" baseType="lpstr">
      <vt:lpstr>Thème Office</vt:lpstr>
      <vt:lpstr>PHYSIOLOGIE VEGETALE</vt:lpstr>
      <vt:lpstr>II. Principes de la physiologie végétale </vt:lpstr>
      <vt:lpstr>1.Croissance et Développement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parenchyme chlorophyllien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PHYSIOLOGIE VEGETALE</dc:title>
  <dc:creator>PREVOT Pascal Guy</dc:creator>
  <cp:lastModifiedBy>Chnalder Joseph</cp:lastModifiedBy>
  <cp:revision>30</cp:revision>
  <dcterms:created xsi:type="dcterms:W3CDTF">2020-10-20T11:33:49Z</dcterms:created>
  <dcterms:modified xsi:type="dcterms:W3CDTF">2025-10-23T07:36:42Z</dcterms:modified>
</cp:coreProperties>
</file>